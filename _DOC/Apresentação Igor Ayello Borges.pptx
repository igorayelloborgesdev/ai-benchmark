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70" r:id="rId12"/>
    <p:sldId id="271" r:id="rId13"/>
    <p:sldId id="272" r:id="rId14"/>
    <p:sldId id="265" r:id="rId15"/>
    <p:sldId id="266" r:id="rId16"/>
    <p:sldId id="267" r:id="rId17"/>
    <p:sldId id="268" r:id="rId18"/>
    <p:sldId id="269" r:id="rId19"/>
    <p:sldId id="262" r:id="rId20"/>
    <p:sldId id="263" r:id="rId21"/>
    <p:sldId id="264" r:id="rId22"/>
  </p:sldIdLst>
  <p:sldSz cx="12192000" cy="6858000"/>
  <p:notesSz cx="6858000" cy="9144000"/>
  <p:defaultTextStyle>
    <a:defPPr>
      <a:defRPr lang="pt-BR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40595A-576C-4961-8064-C6DA6FE25FD3}" v="6" dt="2024-03-28T16:41:33.9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lia Montezelli" userId="f684dfb1-a22e-47cb-8c34-70aa728d609c" providerId="ADAL" clId="{0540595A-576C-4961-8064-C6DA6FE25FD3}"/>
    <pc:docChg chg="addSld delSld modSld sldOrd addMainMaster modMainMaster">
      <pc:chgData name="Julia Montezelli" userId="f684dfb1-a22e-47cb-8c34-70aa728d609c" providerId="ADAL" clId="{0540595A-576C-4961-8064-C6DA6FE25FD3}" dt="2024-03-28T16:42:40.512" v="16" actId="47"/>
      <pc:docMkLst>
        <pc:docMk/>
      </pc:docMkLst>
      <pc:sldChg chg="modSp mod">
        <pc:chgData name="Julia Montezelli" userId="f684dfb1-a22e-47cb-8c34-70aa728d609c" providerId="ADAL" clId="{0540595A-576C-4961-8064-C6DA6FE25FD3}" dt="2024-03-28T16:41:55.589" v="12" actId="34135"/>
        <pc:sldMkLst>
          <pc:docMk/>
          <pc:sldMk cId="0" sldId="256"/>
        </pc:sldMkLst>
        <pc:picChg chg="mod">
          <ac:chgData name="Julia Montezelli" userId="f684dfb1-a22e-47cb-8c34-70aa728d609c" providerId="ADAL" clId="{0540595A-576C-4961-8064-C6DA6FE25FD3}" dt="2024-03-28T16:41:55.589" v="12" actId="34135"/>
          <ac:picMkLst>
            <pc:docMk/>
            <pc:sldMk cId="0" sldId="256"/>
            <ac:picMk id="2050" creationId="{69167FFF-053C-32A8-23DF-F9F613927C34}"/>
          </ac:picMkLst>
        </pc:picChg>
      </pc:sldChg>
      <pc:sldChg chg="delSp ord">
        <pc:chgData name="Julia Montezelli" userId="f684dfb1-a22e-47cb-8c34-70aa728d609c" providerId="ADAL" clId="{0540595A-576C-4961-8064-C6DA6FE25FD3}" dt="2024-03-28T16:41:31.466" v="9" actId="478"/>
        <pc:sldMkLst>
          <pc:docMk/>
          <pc:sldMk cId="0" sldId="257"/>
        </pc:sldMkLst>
        <pc:picChg chg="del">
          <ac:chgData name="Julia Montezelli" userId="f684dfb1-a22e-47cb-8c34-70aa728d609c" providerId="ADAL" clId="{0540595A-576C-4961-8064-C6DA6FE25FD3}" dt="2024-03-28T16:41:31.466" v="9" actId="478"/>
          <ac:picMkLst>
            <pc:docMk/>
            <pc:sldMk cId="0" sldId="257"/>
            <ac:picMk id="3074" creationId="{AD9CEC6A-1B25-2261-ACEF-39CAFD05A131}"/>
          </ac:picMkLst>
        </pc:picChg>
      </pc:sldChg>
      <pc:sldChg chg="new del">
        <pc:chgData name="Julia Montezelli" userId="f684dfb1-a22e-47cb-8c34-70aa728d609c" providerId="ADAL" clId="{0540595A-576C-4961-8064-C6DA6FE25FD3}" dt="2024-03-28T16:41:05.260" v="5" actId="47"/>
        <pc:sldMkLst>
          <pc:docMk/>
          <pc:sldMk cId="1325056275" sldId="258"/>
        </pc:sldMkLst>
      </pc:sldChg>
      <pc:sldChg chg="delSp add del">
        <pc:chgData name="Julia Montezelli" userId="f684dfb1-a22e-47cb-8c34-70aa728d609c" providerId="ADAL" clId="{0540595A-576C-4961-8064-C6DA6FE25FD3}" dt="2024-03-28T16:42:40.512" v="16" actId="47"/>
        <pc:sldMkLst>
          <pc:docMk/>
          <pc:sldMk cId="2878548634" sldId="258"/>
        </pc:sldMkLst>
        <pc:picChg chg="del">
          <ac:chgData name="Julia Montezelli" userId="f684dfb1-a22e-47cb-8c34-70aa728d609c" providerId="ADAL" clId="{0540595A-576C-4961-8064-C6DA6FE25FD3}" dt="2024-03-28T16:41:33.929" v="10" actId="478"/>
          <ac:picMkLst>
            <pc:docMk/>
            <pc:sldMk cId="2878548634" sldId="258"/>
            <ac:picMk id="3074" creationId="{AD9CEC6A-1B25-2261-ACEF-39CAFD05A131}"/>
          </ac:picMkLst>
        </pc:picChg>
      </pc:sldChg>
      <pc:sldChg chg="new del">
        <pc:chgData name="Julia Montezelli" userId="f684dfb1-a22e-47cb-8c34-70aa728d609c" providerId="ADAL" clId="{0540595A-576C-4961-8064-C6DA6FE25FD3}" dt="2024-03-28T16:42:39.533" v="15" actId="47"/>
        <pc:sldMkLst>
          <pc:docMk/>
          <pc:sldMk cId="1401432568" sldId="259"/>
        </pc:sldMkLst>
      </pc:sldChg>
      <pc:sldChg chg="new del">
        <pc:chgData name="Julia Montezelli" userId="f684dfb1-a22e-47cb-8c34-70aa728d609c" providerId="ADAL" clId="{0540595A-576C-4961-8064-C6DA6FE25FD3}" dt="2024-03-28T16:42:38.895" v="14" actId="47"/>
        <pc:sldMkLst>
          <pc:docMk/>
          <pc:sldMk cId="1315780620" sldId="260"/>
        </pc:sldMkLst>
      </pc:sldChg>
      <pc:sldMasterChg chg="modSldLayout">
        <pc:chgData name="Julia Montezelli" userId="f684dfb1-a22e-47cb-8c34-70aa728d609c" providerId="ADAL" clId="{0540595A-576C-4961-8064-C6DA6FE25FD3}" dt="2024-03-28T16:41:18.999" v="7"/>
        <pc:sldMasterMkLst>
          <pc:docMk/>
          <pc:sldMasterMk cId="0" sldId="2147483648"/>
        </pc:sldMasterMkLst>
        <pc:sldLayoutChg chg="addSp modSp">
          <pc:chgData name="Julia Montezelli" userId="f684dfb1-a22e-47cb-8c34-70aa728d609c" providerId="ADAL" clId="{0540595A-576C-4961-8064-C6DA6FE25FD3}" dt="2024-03-28T16:41:18.999" v="7"/>
          <pc:sldLayoutMkLst>
            <pc:docMk/>
            <pc:sldMasterMk cId="0" sldId="2147483648"/>
            <pc:sldLayoutMk cId="423984615" sldId="2147483650"/>
          </pc:sldLayoutMkLst>
          <pc:picChg chg="add mod">
            <ac:chgData name="Julia Montezelli" userId="f684dfb1-a22e-47cb-8c34-70aa728d609c" providerId="ADAL" clId="{0540595A-576C-4961-8064-C6DA6FE25FD3}" dt="2024-03-28T16:41:18.999" v="7"/>
            <ac:picMkLst>
              <pc:docMk/>
              <pc:sldMasterMk cId="0" sldId="2147483648"/>
              <pc:sldLayoutMk cId="423984615" sldId="2147483650"/>
              <ac:picMk id="7" creationId="{664C5D5B-F775-740C-162F-75F700AA3B6F}"/>
            </ac:picMkLst>
          </pc:picChg>
        </pc:sldLayoutChg>
        <pc:sldLayoutChg chg="addSp delSp modSp">
          <pc:chgData name="Julia Montezelli" userId="f684dfb1-a22e-47cb-8c34-70aa728d609c" providerId="ADAL" clId="{0540595A-576C-4961-8064-C6DA6FE25FD3}" dt="2024-03-28T16:41:16.049" v="6" actId="21"/>
          <pc:sldLayoutMkLst>
            <pc:docMk/>
            <pc:sldMasterMk cId="0" sldId="2147483648"/>
            <pc:sldLayoutMk cId="468984278" sldId="2147483651"/>
          </pc:sldLayoutMkLst>
          <pc:picChg chg="add del mod">
            <ac:chgData name="Julia Montezelli" userId="f684dfb1-a22e-47cb-8c34-70aa728d609c" providerId="ADAL" clId="{0540595A-576C-4961-8064-C6DA6FE25FD3}" dt="2024-03-28T16:41:16.049" v="6" actId="21"/>
            <ac:picMkLst>
              <pc:docMk/>
              <pc:sldMasterMk cId="0" sldId="2147483648"/>
              <pc:sldLayoutMk cId="468984278" sldId="2147483651"/>
              <ac:picMk id="7" creationId="{664C5D5B-F775-740C-162F-75F700AA3B6F}"/>
            </ac:picMkLst>
          </pc:picChg>
        </pc:sldLayoutChg>
      </pc:sldMasterChg>
      <pc:sldMasterChg chg="new mod addSldLayout">
        <pc:chgData name="Julia Montezelli" userId="f684dfb1-a22e-47cb-8c34-70aa728d609c" providerId="ADAL" clId="{0540595A-576C-4961-8064-C6DA6FE25FD3}" dt="2024-03-28T14:32:12.261" v="0" actId="6938"/>
        <pc:sldMasterMkLst>
          <pc:docMk/>
          <pc:sldMasterMk cId="2258777206" sldId="2147483660"/>
        </pc:sldMasterMkLst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313237468" sldId="2147483661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161459600" sldId="2147483662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611285825" sldId="2147483663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3658152024" sldId="2147483664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659889071" sldId="2147483665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3663317416" sldId="2147483666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3349444308" sldId="2147483667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112163654" sldId="2147483668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992403294" sldId="2147483669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3530002744" sldId="2147483670"/>
          </pc:sldLayoutMkLst>
        </pc:sldLayoutChg>
        <pc:sldLayoutChg chg="new replId">
          <pc:chgData name="Julia Montezelli" userId="f684dfb1-a22e-47cb-8c34-70aa728d609c" providerId="ADAL" clId="{0540595A-576C-4961-8064-C6DA6FE25FD3}" dt="2024-03-28T14:32:12.261" v="0" actId="6938"/>
          <pc:sldLayoutMkLst>
            <pc:docMk/>
            <pc:sldMasterMk cId="2258777206" sldId="2147483660"/>
            <pc:sldLayoutMk cId="1721163585" sldId="214748367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E54188C-5123-C403-D056-93E26F433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41F348-3173-4368-9AE4-2C210B104C9A}" type="datetimeFigureOut">
              <a:rPr lang="pt-BR"/>
              <a:pPr>
                <a:defRPr/>
              </a:pPr>
              <a:t>08/10/2025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648FF5D-D431-88CE-6059-A5CCBA4BF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C36DCA9-8EA9-A37A-51F1-8B71F4CBC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1F76F7-039B-430A-B7B5-577DDA3C4D0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4697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94A8A04-19E9-70E3-19CA-3B3FF0220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4753154-227E-4FB0-9144-264D99B09C4F}" type="datetimeFigureOut">
              <a:rPr lang="pt-BR"/>
              <a:pPr>
                <a:defRPr/>
              </a:pPr>
              <a:t>08/10/2025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92BC6B5-7E86-2B7B-9668-FB92CF95D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77AE915-4AA5-1329-97D0-038C90D4E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3A4533-5DBE-4FD4-A061-EAF54B40E89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pic>
        <p:nvPicPr>
          <p:cNvPr id="7" name="Imagem 4" descr="Desenho com traços pretos em fundo branco&#10;&#10;Descrição gerada automaticamente com confiança média">
            <a:extLst>
              <a:ext uri="{FF2B5EF4-FFF2-40B4-BE49-F238E27FC236}">
                <a16:creationId xmlns:a16="http://schemas.microsoft.com/office/drawing/2014/main" id="{664C5D5B-F775-740C-162F-75F700AA3B6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4838" y="6224588"/>
            <a:ext cx="1182687" cy="488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3984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4853632-0636-CD63-8241-3E8831E4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C3CC2B-74D8-4575-BC9B-C755C2896EC6}" type="datetimeFigureOut">
              <a:rPr lang="pt-BR"/>
              <a:pPr>
                <a:defRPr/>
              </a:pPr>
              <a:t>08/10/2025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FA3DF60-2307-708F-4B50-3EC9B5C1A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DAA974E-B8F0-D8E5-71C1-3AC1FBF68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264EEBC-97AD-4BB5-8C4C-916E37B736B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8984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3206DE05-FE47-C861-B320-19DCD0AD1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663D85-07B5-4A63-A5EE-7CB9EBD586D1}" type="datetimeFigureOut">
              <a:rPr lang="pt-BR"/>
              <a:pPr>
                <a:defRPr/>
              </a:pPr>
              <a:t>08/10/2025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0266CD70-C085-D99C-4F89-89C7448D3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E0FDED60-12D4-0D84-DC2C-025B2AF21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7F81F3-3B6B-4158-A2EA-435EE12202D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08135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>
            <a:extLst>
              <a:ext uri="{FF2B5EF4-FFF2-40B4-BE49-F238E27FC236}">
                <a16:creationId xmlns:a16="http://schemas.microsoft.com/office/drawing/2014/main" id="{7BCF1C5A-A74A-F7CB-5428-776F6FA85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7049EFE-17D5-480A-B754-87D854FBA7BD}" type="datetimeFigureOut">
              <a:rPr lang="pt-BR"/>
              <a:pPr>
                <a:defRPr/>
              </a:pPr>
              <a:t>08/10/2025</a:t>
            </a:fld>
            <a:endParaRPr lang="pt-BR"/>
          </a:p>
        </p:txBody>
      </p:sp>
      <p:sp>
        <p:nvSpPr>
          <p:cNvPr id="8" name="Espaço Reservado para Rodapé 4">
            <a:extLst>
              <a:ext uri="{FF2B5EF4-FFF2-40B4-BE49-F238E27FC236}">
                <a16:creationId xmlns:a16="http://schemas.microsoft.com/office/drawing/2014/main" id="{2ECEE962-D46B-58FA-EF60-EDFE1973F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Espaço Reservado para Número de Slide 5">
            <a:extLst>
              <a:ext uri="{FF2B5EF4-FFF2-40B4-BE49-F238E27FC236}">
                <a16:creationId xmlns:a16="http://schemas.microsoft.com/office/drawing/2014/main" id="{F32B39DE-A1FE-7775-DE1E-ACB086D88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8139C0E-B88B-4E19-94FC-2325D76F751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74631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3">
            <a:extLst>
              <a:ext uri="{FF2B5EF4-FFF2-40B4-BE49-F238E27FC236}">
                <a16:creationId xmlns:a16="http://schemas.microsoft.com/office/drawing/2014/main" id="{5137CD16-6574-6E1F-ABE4-0A545D365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393E6F-C6AF-442E-89E3-F85E24AFDA58}" type="datetimeFigureOut">
              <a:rPr lang="pt-BR"/>
              <a:pPr>
                <a:defRPr/>
              </a:pPr>
              <a:t>08/10/2025</a:t>
            </a:fld>
            <a:endParaRPr lang="pt-BR"/>
          </a:p>
        </p:txBody>
      </p:sp>
      <p:sp>
        <p:nvSpPr>
          <p:cNvPr id="4" name="Espaço Reservado para Rodapé 4">
            <a:extLst>
              <a:ext uri="{FF2B5EF4-FFF2-40B4-BE49-F238E27FC236}">
                <a16:creationId xmlns:a16="http://schemas.microsoft.com/office/drawing/2014/main" id="{35BCBFEA-C5E5-6A42-1AAA-FAF2685FD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Espaço Reservado para Número de Slide 5">
            <a:extLst>
              <a:ext uri="{FF2B5EF4-FFF2-40B4-BE49-F238E27FC236}">
                <a16:creationId xmlns:a16="http://schemas.microsoft.com/office/drawing/2014/main" id="{3987B575-2E62-724D-F599-EAD1951FE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A3265F5-9918-43E5-A4FC-F732428B84D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1812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>
            <a:extLst>
              <a:ext uri="{FF2B5EF4-FFF2-40B4-BE49-F238E27FC236}">
                <a16:creationId xmlns:a16="http://schemas.microsoft.com/office/drawing/2014/main" id="{57D1C6B0-5D54-197F-AC9B-65D8851F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AAAD17F-5C37-430A-8177-1918C74E06A4}" type="datetimeFigureOut">
              <a:rPr lang="pt-BR"/>
              <a:pPr>
                <a:defRPr/>
              </a:pPr>
              <a:t>08/10/2025</a:t>
            </a:fld>
            <a:endParaRPr lang="pt-BR"/>
          </a:p>
        </p:txBody>
      </p:sp>
      <p:sp>
        <p:nvSpPr>
          <p:cNvPr id="3" name="Espaço Reservado para Rodapé 4">
            <a:extLst>
              <a:ext uri="{FF2B5EF4-FFF2-40B4-BE49-F238E27FC236}">
                <a16:creationId xmlns:a16="http://schemas.microsoft.com/office/drawing/2014/main" id="{0D6031AF-FE42-9BB0-2711-99D8A67E0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Espaço Reservado para Número de Slide 5">
            <a:extLst>
              <a:ext uri="{FF2B5EF4-FFF2-40B4-BE49-F238E27FC236}">
                <a16:creationId xmlns:a16="http://schemas.microsoft.com/office/drawing/2014/main" id="{8E6DDA5D-8BD5-1650-B632-A61D9B1D3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5EDAD0-5299-4C4E-859B-63E5266360B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1707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2A53A17D-9EEC-1376-506B-D8D43425E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897BD8-28FD-44E8-9D3A-DD444A1270E8}" type="datetimeFigureOut">
              <a:rPr lang="pt-BR"/>
              <a:pPr>
                <a:defRPr/>
              </a:pPr>
              <a:t>08/10/2025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843F775C-E2F8-910D-745B-5D354CFD6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33860552-DD75-02DB-B500-B86A9D63C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0DB9B6-62D8-4BB7-BB1C-7D883C26475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47975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3">
            <a:extLst>
              <a:ext uri="{FF2B5EF4-FFF2-40B4-BE49-F238E27FC236}">
                <a16:creationId xmlns:a16="http://schemas.microsoft.com/office/drawing/2014/main" id="{E581D842-D706-7D01-7B93-471F1CCC9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F3CEA6-D88E-4E80-9FC8-3DA155323873}" type="datetimeFigureOut">
              <a:rPr lang="pt-BR"/>
              <a:pPr>
                <a:defRPr/>
              </a:pPr>
              <a:t>08/10/2025</a:t>
            </a:fld>
            <a:endParaRPr lang="pt-BR"/>
          </a:p>
        </p:txBody>
      </p:sp>
      <p:sp>
        <p:nvSpPr>
          <p:cNvPr id="6" name="Espaço Reservado para Rodapé 4">
            <a:extLst>
              <a:ext uri="{FF2B5EF4-FFF2-40B4-BE49-F238E27FC236}">
                <a16:creationId xmlns:a16="http://schemas.microsoft.com/office/drawing/2014/main" id="{B16DC51D-DF0D-58F1-CFE1-BE3016910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Espaço Reservado para Número de Slide 5">
            <a:extLst>
              <a:ext uri="{FF2B5EF4-FFF2-40B4-BE49-F238E27FC236}">
                <a16:creationId xmlns:a16="http://schemas.microsoft.com/office/drawing/2014/main" id="{C407A454-8E16-BB9C-37DE-A2D421A119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38A33F-6685-41BA-80F1-2B0923865B5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897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0D59DDA-6441-1B7C-B62C-BF62B03B0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0D6C737-1E34-435B-8742-DFCAF78F49C8}" type="datetimeFigureOut">
              <a:rPr lang="pt-BR"/>
              <a:pPr>
                <a:defRPr/>
              </a:pPr>
              <a:t>08/10/2025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BB4E6C9-D9FC-E0DC-02F2-F642D50DA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D7BB54B-F4A2-4AA3-61E6-2A9526B0F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516F8B4-0831-4CF4-85C7-B8BB0D88BD5A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011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95B2444-C6E0-2A95-B28D-C7A5E66A5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E7F4D5-5FF4-4AE9-9E53-FBC51E1889ED}" type="datetimeFigureOut">
              <a:rPr lang="pt-BR"/>
              <a:pPr>
                <a:defRPr/>
              </a:pPr>
              <a:t>08/10/2025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4E08FAD-EDC2-8C7B-CA3B-A64C9007E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8F2CA30-119A-4372-93F3-D47A1D77A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20E77F-8C06-477A-82CE-75C5F46B7A4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108195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5EF62E-0F2D-47C5-6D89-F3CCC797A0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F4013DC-8F6A-2CEA-B95A-3A12F4C280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668CB8-DA21-60CA-576A-40CEC5DCC6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6A8E9C-7002-046F-C62C-7F7B5DF429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1BD49D0-7B3E-366D-C1B1-645D15AAD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237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714900-2B20-CF61-3EF4-0A478244D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001EAC-6554-6610-2375-BA980B3842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B100A3-B288-7584-7AB3-3E2C89CB7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67905D-FE02-43D8-7F1A-B52231D5F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99585B9-64F8-F534-75D1-DB0DF76E8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459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7738F6-0B84-F482-8581-48DA78122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A1F32F5C-3A9A-B986-48CB-28B6608B54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10B67F0-1844-E07C-FBBF-6ED7E9FEA8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FC171B8-D512-7700-A187-95FFAA3B5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67D3D2D-4DBF-3F52-754A-0DE045A29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12858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06D6A7-8208-8CB5-1985-A690E3FDE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A60FB5-FBFF-38BB-9508-C46FDB26E5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52AD750-9710-6744-3DFA-8094CA9B77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88C0DD2-EA0A-EC6D-D5F7-AADE939C6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08/10/2025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9482AC6-F053-EEDD-5637-B347FE01A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FF95F68-3D6D-9BA7-9C25-7DA1717F6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81520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E04330-174D-29E5-8654-46A07AF89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DE00D73-2C2D-23AB-0134-CF309677BF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D249F24-FCDC-6B9A-A6D7-D05223708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2B6A79D9-C4D3-5F6D-6C3A-8A7DFBE06D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E70E644-EED5-872A-3F3E-8DA878743A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A434F67-88BF-E7AB-8146-F015A2E4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08/10/2025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62316F72-0B0C-741B-4791-1A08DCC05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CD686B2-8C95-B1A7-8647-8AE6D6273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98890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ACA114-7BEF-8889-4AAD-A4650F50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84703BE-0278-68C8-55F1-5E12C6A85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08/10/2025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7F362A38-B33A-3B43-1FC6-6E9131030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383375D-BA6C-7189-935B-2C4CDA4C2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33174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BB3D465-661A-008F-6997-8D0BE07BE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08/10/2025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ED01AFC2-EE9C-0E49-2FB7-F1B471B66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12F564-8150-6C5C-3AD4-CA179A8EE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944430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12C474-3B0B-B417-EC81-75DE75A54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1C390E-B237-7170-85F8-A35CF9644A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BF85BDB-CC8C-5D62-5852-0D91B7C5C2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01FF1C5-64A0-DAB8-6184-8BE64977D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08/10/2025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DABDF35-C8D7-F2C0-CBF3-D0DCEC1DD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C293867-BF6F-F150-C690-A101E356D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1636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674E243-EE90-F093-06FD-D01879DC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5DA1786-0D87-7592-C312-AAA4055FF9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53ED9EA-D49E-8E58-3C63-9B8108BE5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1067272-070E-82A2-443A-948B5B5AD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08/10/2025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01E17D2-90C1-300D-83AA-A1DA1DF93D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B4B14FE-048C-DF7C-85F1-4F55DAF38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40329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E6FBF-271B-6A71-80D3-84715724A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D386F14-8F4A-F22F-9FFC-1164C0CD9D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995AC9A-FDC8-0DEE-1058-0933DBB4B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48118C6-633D-F2FC-6522-4511BBD82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B7A59AB-5B8D-B9F1-CA52-861E99D9C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00027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1916963-F002-4CC0-000F-721A3B3C7D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1565939-2249-B159-ED7A-6B667FC19F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0FB969-A189-C5D2-6D3C-3B2D596AF3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724664-DFBB-4E94-A029-90BF542E375A}" type="datetimeFigureOut">
              <a:rPr lang="pt-BR" smtClean="0"/>
              <a:t>08/10/2025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C16F883-BB93-AA0F-E2B5-D8DB0A17F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97187D8-30AE-608E-E44C-43BD8F606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11635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>
            <a:extLst>
              <a:ext uri="{FF2B5EF4-FFF2-40B4-BE49-F238E27FC236}">
                <a16:creationId xmlns:a16="http://schemas.microsoft.com/office/drawing/2014/main" id="{54FEAEE6-6DC3-82AD-923E-6E89737ACE8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 título Mestre</a:t>
            </a:r>
          </a:p>
        </p:txBody>
      </p:sp>
      <p:sp>
        <p:nvSpPr>
          <p:cNvPr id="1027" name="Espaço Reservado para Texto 2">
            <a:extLst>
              <a:ext uri="{FF2B5EF4-FFF2-40B4-BE49-F238E27FC236}">
                <a16:creationId xmlns:a16="http://schemas.microsoft.com/office/drawing/2014/main" id="{2EB787A8-6C53-B312-69D6-15B7C63FD6E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/>
              <a:t>Clique para editar os estilos de texto Mestres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AB38F5-179C-EC89-D177-EDF645BBBA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4DEA24CB-D011-40A9-9B00-17F8B95BC099}" type="datetimeFigureOut">
              <a:rPr lang="pt-BR"/>
              <a:pPr>
                <a:defRPr/>
              </a:pPr>
              <a:t>08/10/2025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96B3C93-8BD6-F4DF-2EF9-9F9B19864D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E79F760-62C7-A95B-8BCB-9125DE6467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pPr>
              <a:defRPr/>
            </a:pPr>
            <a:fld id="{31B5D4AF-77A0-46F4-A4DA-44F26C2F6F0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C0CD8993-8EFA-C921-CE50-C91B93C59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FDAFABD-CCB9-B391-F672-3C505C4ED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B6F6392-A335-49EB-9AF3-43BB6706E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724664-DFBB-4E94-A029-90BF542E375A}" type="datetimeFigureOut">
              <a:rPr lang="pt-BR" smtClean="0"/>
              <a:t>08/10/2025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43C747-C098-229A-2F92-02372364E8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901009F-9821-73C3-C06E-B6C465341E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86E26F-4CA5-445A-BDCA-5EE22F151C7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8777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m 4" descr="Desenho com traços pretos em fundo branco&#10;&#10;Descrição gerada automaticamente com confiança média">
            <a:extLst>
              <a:ext uri="{FF2B5EF4-FFF2-40B4-BE49-F238E27FC236}">
                <a16:creationId xmlns:a16="http://schemas.microsoft.com/office/drawing/2014/main" id="{69167FFF-053C-32A8-23DF-F9F613927C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2400" y="1187450"/>
            <a:ext cx="2692400" cy="448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Título 1">
            <a:extLst>
              <a:ext uri="{FF2B5EF4-FFF2-40B4-BE49-F238E27FC236}">
                <a16:creationId xmlns:a16="http://schemas.microsoft.com/office/drawing/2014/main" id="{5E191FB6-9076-7761-D0ED-D4DB65D1453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4114800" y="2793192"/>
            <a:ext cx="7654925" cy="2003425"/>
          </a:xfrm>
        </p:spPr>
        <p:txBody>
          <a:bodyPr/>
          <a:lstStyle/>
          <a:p>
            <a:r>
              <a:rPr lang="pt-BR" altLang="pt-BR" sz="4800" dirty="0">
                <a:solidFill>
                  <a:schemeClr val="bg2"/>
                </a:solidFill>
                <a:latin typeface="Poppins SemiBold" panose="00000700000000000000" pitchFamily="2" charset="0"/>
                <a:cs typeface="Poppins SemiBold" panose="00000700000000000000" pitchFamily="2" charset="0"/>
              </a:rPr>
              <a:t>Desempenho de inteligências artificiais na criação de APIs para plataformas de simulação de investimentos</a:t>
            </a:r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E2D5B23A-1E89-B367-5D15-A0EBF76473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30750" y="4987506"/>
            <a:ext cx="5356225" cy="673965"/>
          </a:xfrm>
        </p:spPr>
        <p:txBody>
          <a:bodyPr rtlCol="0">
            <a:normAutofit fontScale="85000" lnSpcReduction="20000"/>
          </a:bodyPr>
          <a:lstStyle/>
          <a:p>
            <a:pPr algn="l" fontAlgn="auto">
              <a:spcAft>
                <a:spcPts val="0"/>
              </a:spcAft>
              <a:defRPr/>
            </a:pPr>
            <a:r>
              <a:rPr lang="pt-BR" dirty="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Igor </a:t>
            </a:r>
            <a:r>
              <a:rPr lang="pt-BR" dirty="0" err="1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Ayello</a:t>
            </a:r>
            <a:r>
              <a:rPr lang="pt-BR" dirty="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Borges</a:t>
            </a:r>
          </a:p>
          <a:p>
            <a:pPr algn="l" fontAlgn="auto">
              <a:spcAft>
                <a:spcPts val="0"/>
              </a:spcAft>
              <a:defRPr/>
            </a:pPr>
            <a:r>
              <a:rPr lang="pt-BR" dirty="0">
                <a:solidFill>
                  <a:schemeClr val="bg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Anderson Canale Garcia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35D42048-AA20-3DC1-CE1D-09AE13510F48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Introdução</a:t>
            </a:r>
            <a:endParaRPr b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20748C3-1709-D919-AAE0-B732FAD7B9E5}"/>
              </a:ext>
            </a:extLst>
          </p:cNvPr>
          <p:cNvSpPr>
            <a:spLocks noGrp="1"/>
          </p:cNvSpPr>
          <p:nvPr/>
        </p:nvSpPr>
        <p:spPr>
          <a:xfrm>
            <a:off x="923925" y="1828799"/>
            <a:ext cx="1042987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dirty="0"/>
              <a:t>• O </a:t>
            </a:r>
            <a:r>
              <a:rPr dirty="0" err="1"/>
              <a:t>avanço</a:t>
            </a:r>
            <a:r>
              <a:rPr dirty="0"/>
              <a:t> das </a:t>
            </a:r>
            <a:r>
              <a:rPr dirty="0" err="1"/>
              <a:t>tecnologias</a:t>
            </a:r>
            <a:r>
              <a:rPr dirty="0"/>
              <a:t> de IA </a:t>
            </a:r>
            <a:r>
              <a:rPr dirty="0" err="1"/>
              <a:t>transformou</a:t>
            </a:r>
            <a:r>
              <a:rPr dirty="0"/>
              <a:t> o </a:t>
            </a:r>
            <a:r>
              <a:rPr dirty="0" err="1"/>
              <a:t>desenvolvimento</a:t>
            </a:r>
            <a:r>
              <a:rPr dirty="0"/>
              <a:t> de software.</a:t>
            </a:r>
          </a:p>
          <a:p>
            <a:pPr marL="0" indent="0">
              <a:buNone/>
            </a:pPr>
            <a:r>
              <a:rPr dirty="0"/>
              <a:t>• Ferramentas </a:t>
            </a:r>
            <a:r>
              <a:rPr dirty="0" err="1"/>
              <a:t>como</a:t>
            </a:r>
            <a:r>
              <a:rPr dirty="0"/>
              <a:t> ChatGPT e Copilot </a:t>
            </a:r>
            <a:r>
              <a:rPr dirty="0" err="1"/>
              <a:t>auxiliam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geração</a:t>
            </a:r>
            <a:r>
              <a:rPr dirty="0"/>
              <a:t> de </a:t>
            </a:r>
            <a:r>
              <a:rPr dirty="0" err="1"/>
              <a:t>código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há</a:t>
            </a:r>
            <a:r>
              <a:rPr dirty="0"/>
              <a:t> </a:t>
            </a:r>
            <a:r>
              <a:rPr dirty="0" err="1"/>
              <a:t>desafios</a:t>
            </a:r>
            <a:r>
              <a:rPr dirty="0"/>
              <a:t> </a:t>
            </a:r>
            <a:r>
              <a:rPr dirty="0" err="1"/>
              <a:t>quanto</a:t>
            </a:r>
            <a:r>
              <a:rPr dirty="0"/>
              <a:t> à </a:t>
            </a:r>
            <a:r>
              <a:rPr dirty="0" err="1"/>
              <a:t>precisão</a:t>
            </a:r>
            <a:r>
              <a:rPr dirty="0"/>
              <a:t>, </a:t>
            </a:r>
            <a:r>
              <a:rPr dirty="0" err="1"/>
              <a:t>segurança</a:t>
            </a:r>
            <a:r>
              <a:rPr dirty="0"/>
              <a:t> e </a:t>
            </a:r>
            <a:r>
              <a:rPr dirty="0" err="1"/>
              <a:t>manutenibilidade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Este </a:t>
            </a:r>
            <a:r>
              <a:rPr dirty="0" err="1"/>
              <a:t>estudo</a:t>
            </a:r>
            <a:r>
              <a:rPr dirty="0"/>
              <a:t> </a:t>
            </a:r>
            <a:r>
              <a:rPr dirty="0" err="1"/>
              <a:t>compara</a:t>
            </a:r>
            <a:r>
              <a:rPr dirty="0"/>
              <a:t> o </a:t>
            </a:r>
            <a:r>
              <a:rPr dirty="0" err="1"/>
              <a:t>desempenho</a:t>
            </a:r>
            <a:r>
              <a:rPr dirty="0"/>
              <a:t> de </a:t>
            </a:r>
            <a:r>
              <a:rPr dirty="0" err="1"/>
              <a:t>cinco</a:t>
            </a:r>
            <a:r>
              <a:rPr dirty="0"/>
              <a:t> IAs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criação</a:t>
            </a:r>
            <a:r>
              <a:rPr dirty="0"/>
              <a:t> de APIs para um </a:t>
            </a:r>
            <a:r>
              <a:rPr dirty="0" err="1"/>
              <a:t>simulador</a:t>
            </a:r>
            <a:r>
              <a:rPr dirty="0"/>
              <a:t> de </a:t>
            </a:r>
            <a:r>
              <a:rPr dirty="0" err="1"/>
              <a:t>investimentos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16337-DB96-0909-8144-B99158B0B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BDAA6-24E2-B0A5-775E-A6DD60BEEDDE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Contextualização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A0A4D0-3FD6-861A-6A85-D1DAFF122DCF}"/>
              </a:ext>
            </a:extLst>
          </p:cNvPr>
          <p:cNvSpPr>
            <a:spLocks noGrp="1"/>
          </p:cNvSpPr>
          <p:nvPr/>
        </p:nvSpPr>
        <p:spPr>
          <a:xfrm>
            <a:off x="895349" y="1828799"/>
            <a:ext cx="105251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Modelos</a:t>
            </a:r>
            <a:r>
              <a:rPr dirty="0"/>
              <a:t> de IA </a:t>
            </a:r>
            <a:r>
              <a:rPr dirty="0" err="1"/>
              <a:t>avaliados</a:t>
            </a:r>
            <a:r>
              <a:rPr dirty="0"/>
              <a:t>: ChatGPT, Copilot, DeepSeek, Gemini e Meta AI.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Aplicações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APIs </a:t>
            </a:r>
            <a:r>
              <a:rPr dirty="0" err="1"/>
              <a:t>financeiras</a:t>
            </a:r>
            <a:r>
              <a:rPr dirty="0"/>
              <a:t> para </a:t>
            </a:r>
            <a:r>
              <a:rPr dirty="0" err="1"/>
              <a:t>integração</a:t>
            </a:r>
            <a:r>
              <a:rPr dirty="0"/>
              <a:t> com dados de mercado.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Necessidade</a:t>
            </a:r>
            <a:r>
              <a:rPr dirty="0"/>
              <a:t> de </a:t>
            </a:r>
            <a:r>
              <a:rPr dirty="0" err="1"/>
              <a:t>comparar</a:t>
            </a:r>
            <a:r>
              <a:rPr dirty="0"/>
              <a:t> </a:t>
            </a:r>
            <a:r>
              <a:rPr dirty="0" err="1"/>
              <a:t>qualidade</a:t>
            </a:r>
            <a:r>
              <a:rPr dirty="0"/>
              <a:t> e </a:t>
            </a:r>
            <a:r>
              <a:rPr dirty="0" err="1"/>
              <a:t>desempenho</a:t>
            </a:r>
            <a:r>
              <a:rPr dirty="0"/>
              <a:t> entre </a:t>
            </a:r>
            <a:r>
              <a:rPr dirty="0" err="1"/>
              <a:t>diferentes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20189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28BFD-640D-6482-A026-AAF7726C1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855D9-24B3-CC20-F116-6F671A9BA089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Problema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0482E-9E7E-D88E-B3AD-73E9772E6798}"/>
              </a:ext>
            </a:extLst>
          </p:cNvPr>
          <p:cNvSpPr>
            <a:spLocks noGrp="1"/>
          </p:cNvSpPr>
          <p:nvPr/>
        </p:nvSpPr>
        <p:spPr>
          <a:xfrm>
            <a:off x="733425" y="1828799"/>
            <a:ext cx="10591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Existem poucos</a:t>
            </a:r>
            <a:r>
              <a:rPr dirty="0"/>
              <a:t> </a:t>
            </a:r>
            <a:r>
              <a:rPr dirty="0" err="1"/>
              <a:t>estudos</a:t>
            </a:r>
            <a:r>
              <a:rPr dirty="0"/>
              <a:t> </a:t>
            </a:r>
            <a:r>
              <a:rPr dirty="0" err="1"/>
              <a:t>comparativos</a:t>
            </a:r>
            <a:r>
              <a:rPr dirty="0"/>
              <a:t> </a:t>
            </a:r>
            <a:r>
              <a:rPr dirty="0" err="1"/>
              <a:t>detalhados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avaliem</a:t>
            </a:r>
            <a:r>
              <a:rPr dirty="0"/>
              <a:t> o </a:t>
            </a:r>
            <a:r>
              <a:rPr dirty="0" err="1"/>
              <a:t>desempenho</a:t>
            </a:r>
            <a:r>
              <a:rPr dirty="0"/>
              <a:t> de </a:t>
            </a:r>
            <a:r>
              <a:rPr dirty="0" err="1"/>
              <a:t>diferentes</a:t>
            </a:r>
            <a:r>
              <a:rPr dirty="0"/>
              <a:t> </a:t>
            </a:r>
            <a:r>
              <a:rPr dirty="0" err="1"/>
              <a:t>inteligências</a:t>
            </a:r>
            <a:r>
              <a:rPr dirty="0"/>
              <a:t> </a:t>
            </a:r>
            <a:r>
              <a:rPr dirty="0" err="1"/>
              <a:t>artificiais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geração</a:t>
            </a:r>
            <a:r>
              <a:rPr dirty="0"/>
              <a:t> de APIs, </a:t>
            </a:r>
            <a:r>
              <a:rPr dirty="0" err="1"/>
              <a:t>considerando</a:t>
            </a:r>
            <a:r>
              <a:rPr dirty="0"/>
              <a:t> </a:t>
            </a:r>
            <a:r>
              <a:rPr dirty="0" err="1"/>
              <a:t>aspectos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segurança</a:t>
            </a:r>
            <a:r>
              <a:rPr dirty="0"/>
              <a:t>, </a:t>
            </a:r>
            <a:r>
              <a:rPr dirty="0" err="1"/>
              <a:t>eficiência</a:t>
            </a:r>
            <a:r>
              <a:rPr dirty="0"/>
              <a:t> </a:t>
            </a:r>
            <a:r>
              <a:rPr dirty="0" err="1"/>
              <a:t>estrutural</a:t>
            </a:r>
            <a:r>
              <a:rPr dirty="0"/>
              <a:t> e </a:t>
            </a:r>
            <a:r>
              <a:rPr dirty="0" err="1"/>
              <a:t>manutenibilidade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73745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A3D43-9640-B97B-110D-CB9FE9F31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44C04-096D-C96F-CBDF-C15CB19A0310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Objetivo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5DBBBE-B9ED-28BC-3F7A-4487488F8216}"/>
              </a:ext>
            </a:extLst>
          </p:cNvPr>
          <p:cNvSpPr>
            <a:spLocks noGrp="1"/>
          </p:cNvSpPr>
          <p:nvPr/>
        </p:nvSpPr>
        <p:spPr>
          <a:xfrm>
            <a:off x="771525" y="1828799"/>
            <a:ext cx="1046797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dirty="0" err="1"/>
              <a:t>Comparar</a:t>
            </a:r>
            <a:r>
              <a:rPr dirty="0"/>
              <a:t> o </a:t>
            </a:r>
            <a:r>
              <a:rPr dirty="0" err="1"/>
              <a:t>desempenho</a:t>
            </a:r>
            <a:r>
              <a:rPr dirty="0"/>
              <a:t> de </a:t>
            </a:r>
            <a:r>
              <a:rPr dirty="0" err="1"/>
              <a:t>cinco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 de IA (Copilot, ChatGPT, DeepSeek, Gemini e Meta AI)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geração</a:t>
            </a:r>
            <a:r>
              <a:rPr dirty="0"/>
              <a:t> de APIs para um </a:t>
            </a:r>
            <a:r>
              <a:rPr dirty="0" err="1"/>
              <a:t>simulador</a:t>
            </a:r>
            <a:r>
              <a:rPr dirty="0"/>
              <a:t> de </a:t>
            </a:r>
            <a:r>
              <a:rPr dirty="0" err="1"/>
              <a:t>investimentos</a:t>
            </a:r>
            <a:r>
              <a:rPr dirty="0"/>
              <a:t> </a:t>
            </a:r>
            <a:r>
              <a:rPr dirty="0" err="1"/>
              <a:t>avaliando</a:t>
            </a:r>
            <a:r>
              <a:rPr dirty="0"/>
              <a:t> </a:t>
            </a:r>
            <a:r>
              <a:rPr dirty="0" err="1"/>
              <a:t>métricas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, </a:t>
            </a:r>
            <a:r>
              <a:rPr dirty="0" err="1"/>
              <a:t>segurança</a:t>
            </a:r>
            <a:r>
              <a:rPr dirty="0"/>
              <a:t> e </a:t>
            </a:r>
            <a:r>
              <a:rPr dirty="0" err="1"/>
              <a:t>eficiência</a:t>
            </a:r>
            <a:r>
              <a:rPr dirty="0"/>
              <a:t> </a:t>
            </a:r>
            <a:r>
              <a:rPr dirty="0" err="1"/>
              <a:t>estrutural</a:t>
            </a:r>
            <a:r>
              <a:rPr dirty="0"/>
              <a:t> com base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análises</a:t>
            </a:r>
            <a:r>
              <a:rPr dirty="0"/>
              <a:t> do SonarQube.</a:t>
            </a:r>
          </a:p>
        </p:txBody>
      </p:sp>
    </p:spTree>
    <p:extLst>
      <p:ext uri="{BB962C8B-B14F-4D97-AF65-F5344CB8AC3E}">
        <p14:creationId xmlns:p14="http://schemas.microsoft.com/office/powerpoint/2010/main" val="3494285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00E3F-E888-E8B7-25C5-F20A0623B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19D79EC-FC16-AC80-02A3-D6C99219A296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/>
              <a:t>Material e </a:t>
            </a:r>
            <a:r>
              <a:rPr b="1" dirty="0" err="1"/>
              <a:t>Métodos</a:t>
            </a:r>
            <a:endParaRPr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FAA10B-3F0E-E089-814E-183382F71F39}"/>
              </a:ext>
            </a:extLst>
          </p:cNvPr>
          <p:cNvSpPr>
            <a:spLocks noGrp="1"/>
          </p:cNvSpPr>
          <p:nvPr/>
        </p:nvSpPr>
        <p:spPr>
          <a:xfrm>
            <a:off x="704851" y="1828799"/>
            <a:ext cx="1077277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dirty="0"/>
              <a:t>• Local da </a:t>
            </a:r>
            <a:r>
              <a:rPr dirty="0" err="1"/>
              <a:t>pesquisa</a:t>
            </a:r>
            <a:r>
              <a:rPr dirty="0"/>
              <a:t>: </a:t>
            </a:r>
            <a:r>
              <a:rPr dirty="0" err="1"/>
              <a:t>ambiente</a:t>
            </a:r>
            <a:r>
              <a:rPr dirty="0"/>
              <a:t> </a:t>
            </a:r>
            <a:r>
              <a:rPr dirty="0" err="1"/>
              <a:t>controlado</a:t>
            </a:r>
            <a:r>
              <a:rPr dirty="0"/>
              <a:t> com </a:t>
            </a:r>
            <a:r>
              <a:rPr dirty="0" err="1"/>
              <a:t>tecnologias</a:t>
            </a:r>
            <a:r>
              <a:rPr dirty="0"/>
              <a:t> Python, </a:t>
            </a:r>
            <a:r>
              <a:rPr dirty="0" err="1"/>
              <a:t>FastAPI</a:t>
            </a:r>
            <a:r>
              <a:rPr dirty="0"/>
              <a:t>, Docker e SQL Server.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População</a:t>
            </a:r>
            <a:r>
              <a:rPr dirty="0"/>
              <a:t> e </a:t>
            </a:r>
            <a:r>
              <a:rPr dirty="0" err="1"/>
              <a:t>amostra</a:t>
            </a:r>
            <a:r>
              <a:rPr dirty="0"/>
              <a:t>: </a:t>
            </a:r>
            <a:r>
              <a:rPr dirty="0" err="1"/>
              <a:t>cinco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 de IA </a:t>
            </a:r>
            <a:r>
              <a:rPr dirty="0" err="1"/>
              <a:t>utilizados</a:t>
            </a:r>
            <a:r>
              <a:rPr dirty="0"/>
              <a:t> para </a:t>
            </a:r>
            <a:r>
              <a:rPr dirty="0" err="1"/>
              <a:t>gerar</a:t>
            </a:r>
            <a:r>
              <a:rPr dirty="0"/>
              <a:t> APIs </a:t>
            </a:r>
            <a:r>
              <a:rPr dirty="0" err="1"/>
              <a:t>idênticas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Instrumentos</a:t>
            </a:r>
            <a:r>
              <a:rPr dirty="0"/>
              <a:t>: SonarQube para </a:t>
            </a:r>
            <a:r>
              <a:rPr dirty="0" err="1"/>
              <a:t>métricas</a:t>
            </a:r>
            <a:r>
              <a:rPr dirty="0"/>
              <a:t> de </a:t>
            </a:r>
            <a:r>
              <a:rPr dirty="0" err="1"/>
              <a:t>qualidade</a:t>
            </a:r>
            <a:r>
              <a:rPr dirty="0"/>
              <a:t> e </a:t>
            </a:r>
            <a:r>
              <a:rPr dirty="0" err="1"/>
              <a:t>segurança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Procedimentos</a:t>
            </a:r>
            <a:r>
              <a:rPr dirty="0"/>
              <a:t>: </a:t>
            </a:r>
            <a:r>
              <a:rPr dirty="0" err="1"/>
              <a:t>todos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 </a:t>
            </a:r>
            <a:r>
              <a:rPr dirty="0" err="1"/>
              <a:t>receberam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mesmos</a:t>
            </a:r>
            <a:r>
              <a:rPr dirty="0"/>
              <a:t> prompts e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avaliados</a:t>
            </a:r>
            <a:r>
              <a:rPr dirty="0"/>
              <a:t> de forma </a:t>
            </a:r>
            <a:r>
              <a:rPr dirty="0" err="1"/>
              <a:t>padronizada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35860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BA4E8-30D6-B450-771B-BF7869804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BE61435-C620-01AC-A962-7E5DAC3B99BD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/>
              <a:t>Material e </a:t>
            </a:r>
            <a:r>
              <a:rPr b="1" dirty="0" err="1"/>
              <a:t>Métodos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E91D4-E59B-CACE-2C0F-76A20F5E5223}"/>
              </a:ext>
            </a:extLst>
          </p:cNvPr>
          <p:cNvSpPr>
            <a:spLocks noGrp="1"/>
          </p:cNvSpPr>
          <p:nvPr/>
        </p:nvSpPr>
        <p:spPr>
          <a:xfrm>
            <a:off x="704851" y="1828799"/>
            <a:ext cx="10772774" cy="452596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dirty="0"/>
              <a:t>Principais funcionalidades pedidas:</a:t>
            </a:r>
          </a:p>
          <a:p>
            <a:pPr marL="0" indent="0">
              <a:buNone/>
            </a:pPr>
            <a:r>
              <a:rPr lang="pt-BR" dirty="0"/>
              <a:t>• Importar dados de planilhas Excel e preencher tabelas no banco</a:t>
            </a:r>
          </a:p>
          <a:p>
            <a:pPr marL="0" indent="0">
              <a:buNone/>
            </a:pPr>
            <a:r>
              <a:rPr lang="pt-BR" dirty="0"/>
              <a:t>• Consumir dados de APIs externas (Banco Central e Yahoo </a:t>
            </a:r>
            <a:r>
              <a:rPr lang="pt-BR" dirty="0" err="1"/>
              <a:t>Finance</a:t>
            </a:r>
            <a:r>
              <a:rPr lang="pt-BR" dirty="0"/>
              <a:t>)</a:t>
            </a:r>
          </a:p>
          <a:p>
            <a:pPr marL="0" indent="0">
              <a:buNone/>
            </a:pPr>
            <a:r>
              <a:rPr lang="pt-BR" dirty="0"/>
              <a:t>• Calcular indicadores financeiros (Beta, Sharpe, Volatilidade, Percentil)</a:t>
            </a:r>
          </a:p>
          <a:p>
            <a:pPr marL="0" indent="0">
              <a:buNone/>
            </a:pPr>
            <a:r>
              <a:rPr lang="pt-BR" dirty="0"/>
              <a:t>• Implementar Design </a:t>
            </a:r>
            <a:r>
              <a:rPr lang="pt-BR" dirty="0" err="1"/>
              <a:t>Pattern</a:t>
            </a:r>
            <a:r>
              <a:rPr lang="pt-BR" dirty="0"/>
              <a:t> (</a:t>
            </a:r>
            <a:r>
              <a:rPr lang="pt-BR" dirty="0" err="1"/>
              <a:t>Adapter</a:t>
            </a:r>
            <a:r>
              <a:rPr lang="pt-BR" dirty="0"/>
              <a:t>)</a:t>
            </a:r>
          </a:p>
          <a:p>
            <a:pPr marL="0" indent="0">
              <a:buNone/>
            </a:pPr>
            <a:r>
              <a:rPr lang="pt-BR" dirty="0"/>
              <a:t>• Avaliar qualidade do código via </a:t>
            </a:r>
            <a:r>
              <a:rPr lang="pt-BR" dirty="0" err="1"/>
              <a:t>SonarQube</a:t>
            </a: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50260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9FD75-9F79-98B5-74CE-CCFE50A3A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4D7E848-A4A7-DDD5-BB7C-7C2CA171CD85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/>
              <a:t>Material e </a:t>
            </a:r>
            <a:r>
              <a:rPr b="1" dirty="0" err="1"/>
              <a:t>Métodos</a:t>
            </a:r>
            <a:endParaRPr b="1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DA4B463-33E0-D8E9-8641-3911A7D7D37C}"/>
              </a:ext>
            </a:extLst>
          </p:cNvPr>
          <p:cNvSpPr>
            <a:spLocks noGrp="1"/>
          </p:cNvSpPr>
          <p:nvPr/>
        </p:nvSpPr>
        <p:spPr>
          <a:xfrm>
            <a:off x="704851" y="1828799"/>
            <a:ext cx="10772774" cy="4525963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dirty="0"/>
              <a:t>Exemplo de prompt:</a:t>
            </a:r>
          </a:p>
          <a:p>
            <a:pPr marL="0" indent="0">
              <a:buNone/>
            </a:pPr>
            <a:r>
              <a:rPr lang="pt-BR" dirty="0"/>
              <a:t>“Como consumir dados do seguinte endereço https://api.bcb.gov.br/dados/serie/bcdata.sgs.12/dados?formato=json&amp;dataInicial=08/04/2015&amp;dataFinal=08/04/2025 por meio de um </a:t>
            </a:r>
            <a:r>
              <a:rPr lang="pt-BR" dirty="0" err="1"/>
              <a:t>adapter</a:t>
            </a:r>
            <a:r>
              <a:rPr lang="pt-BR" dirty="0"/>
              <a:t> (design </a:t>
            </a:r>
            <a:r>
              <a:rPr lang="pt-BR" dirty="0" err="1"/>
              <a:t>pattern</a:t>
            </a:r>
            <a:r>
              <a:rPr lang="pt-BR" dirty="0"/>
              <a:t>) em Clean </a:t>
            </a:r>
            <a:r>
              <a:rPr lang="pt-BR" dirty="0" err="1"/>
              <a:t>Architecture</a:t>
            </a:r>
            <a:r>
              <a:rPr lang="pt-BR" dirty="0"/>
              <a:t> usando </a:t>
            </a:r>
            <a:r>
              <a:rPr lang="pt-BR" dirty="0" err="1"/>
              <a:t>FastAPI</a:t>
            </a:r>
            <a:r>
              <a:rPr lang="pt-BR" dirty="0"/>
              <a:t>, salvando os dados consumidos na tabela:</a:t>
            </a:r>
          </a:p>
          <a:p>
            <a:endParaRPr lang="pt-BR" dirty="0"/>
          </a:p>
          <a:p>
            <a:pPr marL="0" indent="0">
              <a:buNone/>
            </a:pPr>
            <a:r>
              <a:rPr lang="pt-BR" dirty="0"/>
              <a:t>CREATE TABLE </a:t>
            </a:r>
            <a:r>
              <a:rPr lang="pt-BR" dirty="0" err="1"/>
              <a:t>CDI_Diario</a:t>
            </a:r>
            <a:r>
              <a:rPr lang="pt-BR" dirty="0"/>
              <a:t> (</a:t>
            </a:r>
          </a:p>
          <a:p>
            <a:pPr marL="0" indent="0">
              <a:buNone/>
            </a:pPr>
            <a:r>
              <a:rPr lang="pt-BR" dirty="0"/>
              <a:t>    Data DATE NOT NULL,</a:t>
            </a:r>
          </a:p>
          <a:p>
            <a:pPr marL="0" indent="0">
              <a:buNone/>
            </a:pPr>
            <a:r>
              <a:rPr lang="pt-BR" dirty="0"/>
              <a:t>    Valor FLOAT NOT NULL,</a:t>
            </a:r>
          </a:p>
          <a:p>
            <a:pPr marL="0" indent="0">
              <a:buNone/>
            </a:pPr>
            <a:r>
              <a:rPr lang="pt-BR" dirty="0"/>
              <a:t>    PRIMARY KEY (Data)</a:t>
            </a:r>
          </a:p>
          <a:p>
            <a:pPr marL="0" indent="0">
              <a:buNone/>
            </a:pPr>
            <a:r>
              <a:rPr lang="pt-BR" dirty="0"/>
              <a:t>);”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43651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0AECB-6930-5D9A-D2F9-F562AB11A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9F45AE0-9438-0A21-89C1-9401EE1E4091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/>
              <a:t>Material e </a:t>
            </a:r>
            <a:r>
              <a:rPr b="1" dirty="0" err="1"/>
              <a:t>Métodos</a:t>
            </a:r>
            <a:endParaRPr b="1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CF92404-D24E-866C-CEFF-31338B7C745C}"/>
              </a:ext>
            </a:extLst>
          </p:cNvPr>
          <p:cNvSpPr>
            <a:spLocks noGrp="1"/>
          </p:cNvSpPr>
          <p:nvPr/>
        </p:nvSpPr>
        <p:spPr>
          <a:xfrm>
            <a:off x="704851" y="1828799"/>
            <a:ext cx="1077277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pt-BR" dirty="0"/>
              <a:t>Resultado esperado:</a:t>
            </a:r>
          </a:p>
          <a:p>
            <a:pPr marL="0" indent="0">
              <a:buNone/>
            </a:pPr>
            <a:r>
              <a:rPr lang="pt-BR" dirty="0"/>
              <a:t>1. Consumir a API externa do Banco Central</a:t>
            </a:r>
          </a:p>
          <a:p>
            <a:pPr marL="0" indent="0">
              <a:buNone/>
            </a:pPr>
            <a:r>
              <a:rPr lang="pt-BR" dirty="0"/>
              <a:t>2. Converter o retorno JSON usando o padrão </a:t>
            </a:r>
            <a:r>
              <a:rPr lang="pt-BR" dirty="0" err="1"/>
              <a:t>Adapter</a:t>
            </a:r>
            <a:endParaRPr lang="pt-BR" dirty="0"/>
          </a:p>
          <a:p>
            <a:pPr marL="0" indent="0">
              <a:buNone/>
            </a:pPr>
            <a:r>
              <a:rPr lang="pt-BR" dirty="0"/>
              <a:t>3. Salvar os dados no SQL Server</a:t>
            </a:r>
          </a:p>
          <a:p>
            <a:pPr marL="0" indent="0">
              <a:buNone/>
            </a:pPr>
            <a:r>
              <a:rPr lang="pt-BR" dirty="0"/>
              <a:t>4. Expor um </a:t>
            </a:r>
            <a:r>
              <a:rPr lang="pt-BR" dirty="0" err="1"/>
              <a:t>endpoint</a:t>
            </a:r>
            <a:r>
              <a:rPr lang="pt-BR" dirty="0"/>
              <a:t> </a:t>
            </a:r>
            <a:r>
              <a:rPr lang="pt-BR" dirty="0" err="1"/>
              <a:t>FastAPI</a:t>
            </a:r>
            <a:r>
              <a:rPr lang="pt-BR" dirty="0"/>
              <a:t> para consulta filtrando por data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37564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E3702-BB21-12E5-0847-452876648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BAE16-D19D-4ED6-FB6C-D053736E9674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b="1" dirty="0"/>
              <a:t>Resultados – Segurança e Qualidade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FAB4B-7B26-D723-0B33-BB65BFFAAEBD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AC4F29D3-E81E-1C48-B289-802DE2801C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8407591"/>
              </p:ext>
            </p:extLst>
          </p:nvPr>
        </p:nvGraphicFramePr>
        <p:xfrm>
          <a:off x="838200" y="2331720"/>
          <a:ext cx="10515600" cy="219456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375793399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01776492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7931464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73751729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Vulnerabilidades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Bugs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 err="1"/>
                        <a:t>Code</a:t>
                      </a:r>
                      <a:r>
                        <a:rPr lang="pt-BR" b="1" dirty="0"/>
                        <a:t> </a:t>
                      </a:r>
                      <a:r>
                        <a:rPr lang="pt-BR" b="1" dirty="0" err="1"/>
                        <a:t>Smells</a:t>
                      </a:r>
                      <a:endParaRPr lang="pt-BR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2904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5335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Copilot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57758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DeepSeek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55420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Gemini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2238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MetaAI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43690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70020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E4016-214D-F6E8-AAFF-5641B3E39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1BBFD-2494-D7DF-DB0B-79F4D4505DE4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b="1" dirty="0"/>
              <a:t>Resultados – Severidades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9B504-407F-A4C8-3B0E-248CB92EEE62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dirty="0"/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715E1D88-2036-6EDE-2F61-71EC6F92A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352348"/>
              </p:ext>
            </p:extLst>
          </p:nvPr>
        </p:nvGraphicFramePr>
        <p:xfrm>
          <a:off x="838200" y="2331720"/>
          <a:ext cx="10515600" cy="219456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716194022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98125005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8964904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94231768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9595894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110204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Total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Bloqueios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Críticas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Principais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Secundárias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69584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44645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Copilot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3392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DeepSeek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48429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Gemini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019018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MetaAI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18683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6748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57636-55AB-D76D-CD2B-1794B59C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F83CA-501D-60D2-759A-AB0FDC3814B5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b="1" dirty="0"/>
              <a:t>Resultados – Tempo de Correção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A9758-7FAC-B834-A3FB-BC4F78430819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07D232C9-81B2-7517-440A-67F483960A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0555408"/>
              </p:ext>
            </p:extLst>
          </p:nvPr>
        </p:nvGraphicFramePr>
        <p:xfrm>
          <a:off x="838200" y="2331720"/>
          <a:ext cx="10515600" cy="219456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20366474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5535383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927308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25404091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698088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Total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Segurança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Confiabilidade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Manutenção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3630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02h27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01h47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72202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Copilot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01h14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00h44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56620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DeepSeek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04h30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00h30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04h00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5531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Gemini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03h45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01h00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02h45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65289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MetaAI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02h07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01h00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00h00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01h07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88467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8309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7F07D-62AD-F8DF-F0E1-5DE5E5B52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0BDF4-424C-BC70-6447-664117862C4A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b="1" dirty="0"/>
              <a:t>Resultados – Dívida Técnica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A1780-C918-AF9D-6376-6BF8891F61D1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dirty="0"/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AEA4A582-8A4F-2CF7-75A3-909452EF75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05341"/>
              </p:ext>
            </p:extLst>
          </p:nvPr>
        </p:nvGraphicFramePr>
        <p:xfrm>
          <a:off x="838200" y="2331720"/>
          <a:ext cx="10515600" cy="219456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71399094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65370830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30120252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22092293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2076268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3343581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Índice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Linhas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Funções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Classes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Arquivos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11387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0,4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867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105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34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02732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Copilot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0,2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826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0823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DeepSeek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0,6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1272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2124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Gemini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0,5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1017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95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29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3608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MetaAI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0,3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799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102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28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794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82118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AE658-1F7B-26C5-D526-E665E35C3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AD51E-FD2A-203D-CF9F-5B3B1C3908E7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b="1" dirty="0"/>
              <a:t>Resultados – Complexidade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4DF4DD-9550-D8C7-5E6E-5FCD08114B2E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A188E354-5A7A-BCE5-6077-F274488541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2716449"/>
              </p:ext>
            </p:extLst>
          </p:nvPr>
        </p:nvGraphicFramePr>
        <p:xfrm>
          <a:off x="838200" y="2331720"/>
          <a:ext cx="10515600" cy="219456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64568429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93702537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485492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/>
                        <a:t>Ciclomática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Cognitiva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16052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169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76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430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Copilot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158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87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0595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DeepSeek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182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116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0072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Gemini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182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144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20432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MetaAI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/>
                        <a:t>142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/>
                        <a:t>68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248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18015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6C988-02E4-6539-F633-36BBA6D63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7081F-DA73-360F-25B0-6063BEE9C814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Resultados</a:t>
            </a:r>
            <a:r>
              <a:rPr b="1" dirty="0"/>
              <a:t> e </a:t>
            </a:r>
            <a:r>
              <a:rPr b="1" dirty="0" err="1"/>
              <a:t>Discussão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8A20F-3C1D-8D22-5335-CD3023B70179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dirty="0"/>
              <a:t>• Copilot </a:t>
            </a:r>
            <a:r>
              <a:rPr dirty="0" err="1"/>
              <a:t>apresentou</a:t>
            </a:r>
            <a:r>
              <a:rPr dirty="0"/>
              <a:t> </a:t>
            </a:r>
            <a:r>
              <a:rPr dirty="0" err="1"/>
              <a:t>menor</a:t>
            </a:r>
            <a:r>
              <a:rPr dirty="0"/>
              <a:t> tempo de </a:t>
            </a:r>
            <a:r>
              <a:rPr dirty="0" err="1"/>
              <a:t>correção</a:t>
            </a:r>
            <a:r>
              <a:rPr dirty="0"/>
              <a:t> e boa </a:t>
            </a:r>
            <a:r>
              <a:rPr dirty="0" err="1"/>
              <a:t>estabilidade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Meta AI </a:t>
            </a:r>
            <a:r>
              <a:rPr dirty="0" err="1"/>
              <a:t>obteve</a:t>
            </a:r>
            <a:r>
              <a:rPr dirty="0"/>
              <a:t> </a:t>
            </a:r>
            <a:r>
              <a:rPr dirty="0" err="1"/>
              <a:t>melhor</a:t>
            </a:r>
            <a:r>
              <a:rPr dirty="0"/>
              <a:t> </a:t>
            </a:r>
            <a:r>
              <a:rPr dirty="0" err="1"/>
              <a:t>qualidade</a:t>
            </a:r>
            <a:r>
              <a:rPr dirty="0"/>
              <a:t> </a:t>
            </a:r>
            <a:r>
              <a:rPr dirty="0" err="1"/>
              <a:t>estrutural</a:t>
            </a:r>
            <a:r>
              <a:rPr dirty="0"/>
              <a:t> e </a:t>
            </a:r>
            <a:r>
              <a:rPr dirty="0" err="1"/>
              <a:t>menor</a:t>
            </a:r>
            <a:r>
              <a:rPr dirty="0"/>
              <a:t> </a:t>
            </a:r>
            <a:r>
              <a:rPr dirty="0" err="1"/>
              <a:t>complexidade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DeepSeek e Gemini </a:t>
            </a:r>
            <a:r>
              <a:rPr dirty="0" err="1"/>
              <a:t>apresentaram</a:t>
            </a:r>
            <a:r>
              <a:rPr dirty="0"/>
              <a:t>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complexidade</a:t>
            </a:r>
            <a:r>
              <a:rPr dirty="0"/>
              <a:t> e </a:t>
            </a:r>
            <a:r>
              <a:rPr dirty="0" err="1"/>
              <a:t>severidades</a:t>
            </a:r>
            <a:r>
              <a:rPr dirty="0"/>
              <a:t>.</a:t>
            </a:r>
          </a:p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resultados</a:t>
            </a:r>
            <a:r>
              <a:rPr dirty="0"/>
              <a:t> </a:t>
            </a:r>
            <a:r>
              <a:rPr dirty="0" err="1"/>
              <a:t>foram</a:t>
            </a:r>
            <a:r>
              <a:rPr dirty="0"/>
              <a:t> </a:t>
            </a:r>
            <a:r>
              <a:rPr dirty="0" err="1"/>
              <a:t>obtidos</a:t>
            </a:r>
            <a:r>
              <a:rPr dirty="0"/>
              <a:t> via </a:t>
            </a:r>
            <a:r>
              <a:rPr dirty="0" err="1"/>
              <a:t>análise</a:t>
            </a:r>
            <a:r>
              <a:rPr dirty="0"/>
              <a:t> no SonarQube.</a:t>
            </a:r>
          </a:p>
        </p:txBody>
      </p:sp>
    </p:spTree>
    <p:extLst>
      <p:ext uri="{BB962C8B-B14F-4D97-AF65-F5344CB8AC3E}">
        <p14:creationId xmlns:p14="http://schemas.microsoft.com/office/powerpoint/2010/main" val="11438226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D5FFA-A529-5B86-0BDA-68230FC9D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719807-6968-C072-ACCE-26A00681E164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Conclusões</a:t>
            </a:r>
            <a:endParaRPr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EB9D389-D60E-94C4-E5E3-798F1EE3FB02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dirty="0"/>
              <a:t>• </a:t>
            </a:r>
            <a:r>
              <a:rPr dirty="0" err="1"/>
              <a:t>Todas</a:t>
            </a:r>
            <a:r>
              <a:rPr dirty="0"/>
              <a:t> as IAs </a:t>
            </a:r>
            <a:r>
              <a:rPr dirty="0" err="1"/>
              <a:t>atingiram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objetivos</a:t>
            </a:r>
            <a:r>
              <a:rPr dirty="0"/>
              <a:t> de </a:t>
            </a:r>
            <a:r>
              <a:rPr dirty="0" err="1"/>
              <a:t>gerar</a:t>
            </a:r>
            <a:r>
              <a:rPr dirty="0"/>
              <a:t> APIs </a:t>
            </a:r>
            <a:r>
              <a:rPr dirty="0" err="1"/>
              <a:t>funcionais</a:t>
            </a:r>
            <a:r>
              <a:rPr dirty="0"/>
              <a:t>.</a:t>
            </a:r>
            <a:endParaRPr lang="pt-BR" dirty="0"/>
          </a:p>
          <a:p>
            <a:pPr marL="0" indent="0">
              <a:buNone/>
            </a:pPr>
            <a:r>
              <a:rPr lang="pt-BR" dirty="0"/>
              <a:t>• Escolha da IA depende do contexto do projeto.</a:t>
            </a:r>
          </a:p>
          <a:p>
            <a:pPr marL="0" indent="0">
              <a:buNone/>
            </a:pPr>
            <a:r>
              <a:rPr lang="pt-BR" dirty="0"/>
              <a:t>• Revisão humana continua essencial.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73978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5428A7-451A-9D76-71CB-D92AB9EC3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48589-066B-C68D-A0E1-2179E794B016}"/>
              </a:ext>
            </a:extLst>
          </p:cNvPr>
          <p:cNvSpPr>
            <a:spLocks noGrp="1"/>
          </p:cNvSpPr>
          <p:nvPr/>
        </p:nvSpPr>
        <p:spPr>
          <a:xfrm>
            <a:off x="1981200" y="50323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b="1" dirty="0" err="1"/>
              <a:t>Agradecimentos</a:t>
            </a:r>
            <a:endParaRPr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059DD-5670-52BA-A113-2550C4505235}"/>
              </a:ext>
            </a:extLst>
          </p:cNvPr>
          <p:cNvSpPr>
            <a:spLocks noGrp="1"/>
          </p:cNvSpPr>
          <p:nvPr/>
        </p:nvSpPr>
        <p:spPr>
          <a:xfrm>
            <a:off x="1981200" y="1828799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O</a:t>
            </a:r>
            <a:r>
              <a:rPr dirty="0" err="1"/>
              <a:t>rientador</a:t>
            </a:r>
            <a:r>
              <a:rPr dirty="0"/>
              <a:t> Anderson Canale Garcia</a:t>
            </a:r>
          </a:p>
        </p:txBody>
      </p:sp>
    </p:spTree>
    <p:extLst>
      <p:ext uri="{BB962C8B-B14F-4D97-AF65-F5344CB8AC3E}">
        <p14:creationId xmlns:p14="http://schemas.microsoft.com/office/powerpoint/2010/main" val="29178129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ar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e7d8aaf-77fb-4419-819f-502bcc31ffe3">
      <Terms xmlns="http://schemas.microsoft.com/office/infopath/2007/PartnerControls"/>
    </lcf76f155ced4ddcb4097134ff3c332f>
    <TaxCatchAll xmlns="2c89dc19-a755-4b1f-8ccb-ddc282e02978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8CFA7B293EDBE4DB98FBC161D82B39F" ma:contentTypeVersion="15" ma:contentTypeDescription="Crie um novo documento." ma:contentTypeScope="" ma:versionID="ed78836dbbd60ef5b47f46abba0ddc66">
  <xsd:schema xmlns:xsd="http://www.w3.org/2001/XMLSchema" xmlns:xs="http://www.w3.org/2001/XMLSchema" xmlns:p="http://schemas.microsoft.com/office/2006/metadata/properties" xmlns:ns2="2c89dc19-a755-4b1f-8ccb-ddc282e02978" xmlns:ns3="1e7d8aaf-77fb-4419-819f-502bcc31ffe3" targetNamespace="http://schemas.microsoft.com/office/2006/metadata/properties" ma:root="true" ma:fieldsID="f28b1225859e7fd7734d1009df438026" ns2:_="" ns3:_="">
    <xsd:import namespace="2c89dc19-a755-4b1f-8ccb-ddc282e02978"/>
    <xsd:import namespace="1e7d8aaf-77fb-4419-819f-502bcc31ffe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c89dc19-a755-4b1f-8ccb-ddc282e0297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1b121cd5-3768-42a0-b312-b7830db9b9b1}" ma:internalName="TaxCatchAll" ma:showField="CatchAllData" ma:web="2c89dc19-a755-4b1f-8ccb-ddc282e0297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7d8aaf-77fb-4419-819f-502bcc31ff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Marcações de imagem" ma:readOnly="false" ma:fieldId="{5cf76f15-5ced-4ddc-b409-7134ff3c332f}" ma:taxonomyMulti="true" ma:sspId="cf329bc3-ce7e-4e75-9c56-962f8f350e4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1A62DB6-902C-42C2-8D0F-84FB049FEE65}">
  <ds:schemaRefs>
    <ds:schemaRef ds:uri="http://schemas.microsoft.com/office/2006/metadata/properties"/>
    <ds:schemaRef ds:uri="http://schemas.microsoft.com/office/infopath/2007/PartnerControls"/>
    <ds:schemaRef ds:uri="1e7d8aaf-77fb-4419-819f-502bcc31ffe3"/>
    <ds:schemaRef ds:uri="2c89dc19-a755-4b1f-8ccb-ddc282e02978"/>
  </ds:schemaRefs>
</ds:datastoreItem>
</file>

<file path=customXml/itemProps2.xml><?xml version="1.0" encoding="utf-8"?>
<ds:datastoreItem xmlns:ds="http://schemas.openxmlformats.org/officeDocument/2006/customXml" ds:itemID="{35E43D43-768B-4037-BB07-231DDA2772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c89dc19-a755-4b1f-8ccb-ddc282e02978"/>
    <ds:schemaRef ds:uri="1e7d8aaf-77fb-4419-819f-502bcc31ffe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55DBCE5-0FAE-4B8C-8A8A-6EE5B61A622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391</TotalTime>
  <Words>698</Words>
  <Application>Microsoft Office PowerPoint</Application>
  <PresentationFormat>Widescreen</PresentationFormat>
  <Paragraphs>203</Paragraphs>
  <Slides>17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17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Calibri Light</vt:lpstr>
      <vt:lpstr>Poppins SemiBold</vt:lpstr>
      <vt:lpstr>Roboto</vt:lpstr>
      <vt:lpstr>Tema do Office</vt:lpstr>
      <vt:lpstr>Personalizar design</vt:lpstr>
      <vt:lpstr>Desempenho de inteligências artificiais na criação de APIs para plataformas de simulação de investimentos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Título do Trabalho de Conclusão de Curso</dc:title>
  <dc:creator>Nicole Dinardi</dc:creator>
  <cp:lastModifiedBy>igor8n1@gmail.com</cp:lastModifiedBy>
  <cp:revision>15</cp:revision>
  <dcterms:created xsi:type="dcterms:W3CDTF">2023-09-28T12:56:17Z</dcterms:created>
  <dcterms:modified xsi:type="dcterms:W3CDTF">2025-10-08T23:57:46Z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0x01010008CFA7B293EDBE4DB98FBC161D82B39F</vt:lpwstr>
  </property>
</Properties>
</file>