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70" r:id="rId12"/>
    <p:sldId id="271" r:id="rId13"/>
    <p:sldId id="272" r:id="rId14"/>
    <p:sldId id="265" r:id="rId15"/>
    <p:sldId id="266" r:id="rId16"/>
    <p:sldId id="267" r:id="rId17"/>
    <p:sldId id="268" r:id="rId18"/>
    <p:sldId id="269" r:id="rId19"/>
    <p:sldId id="262" r:id="rId20"/>
    <p:sldId id="263" r:id="rId21"/>
    <p:sldId id="264" r:id="rId22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0595A-576C-4961-8064-C6DA6FE25FD3}" v="6" dt="2024-03-28T16:41:33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Montezelli" userId="f684dfb1-a22e-47cb-8c34-70aa728d609c" providerId="ADAL" clId="{0540595A-576C-4961-8064-C6DA6FE25FD3}"/>
    <pc:docChg chg="addSld delSld modSld sldOrd addMainMaster modMainMaster">
      <pc:chgData name="Julia Montezelli" userId="f684dfb1-a22e-47cb-8c34-70aa728d609c" providerId="ADAL" clId="{0540595A-576C-4961-8064-C6DA6FE25FD3}" dt="2024-03-28T16:42:40.512" v="16" actId="47"/>
      <pc:docMkLst>
        <pc:docMk/>
      </pc:docMkLst>
      <pc:sldChg chg="modSp mod">
        <pc:chgData name="Julia Montezelli" userId="f684dfb1-a22e-47cb-8c34-70aa728d609c" providerId="ADAL" clId="{0540595A-576C-4961-8064-C6DA6FE25FD3}" dt="2024-03-28T16:41:55.589" v="12" actId="34135"/>
        <pc:sldMkLst>
          <pc:docMk/>
          <pc:sldMk cId="0" sldId="256"/>
        </pc:sldMkLst>
        <pc:picChg chg="mod">
          <ac:chgData name="Julia Montezelli" userId="f684dfb1-a22e-47cb-8c34-70aa728d609c" providerId="ADAL" clId="{0540595A-576C-4961-8064-C6DA6FE25FD3}" dt="2024-03-28T16:41:55.589" v="12" actId="34135"/>
          <ac:picMkLst>
            <pc:docMk/>
            <pc:sldMk cId="0" sldId="256"/>
            <ac:picMk id="2050" creationId="{69167FFF-053C-32A8-23DF-F9F613927C34}"/>
          </ac:picMkLst>
        </pc:picChg>
      </pc:sldChg>
      <pc:sldChg chg="delSp ord">
        <pc:chgData name="Julia Montezelli" userId="f684dfb1-a22e-47cb-8c34-70aa728d609c" providerId="ADAL" clId="{0540595A-576C-4961-8064-C6DA6FE25FD3}" dt="2024-03-28T16:41:31.466" v="9" actId="478"/>
        <pc:sldMkLst>
          <pc:docMk/>
          <pc:sldMk cId="0" sldId="257"/>
        </pc:sldMkLst>
        <pc:picChg chg="del">
          <ac:chgData name="Julia Montezelli" userId="f684dfb1-a22e-47cb-8c34-70aa728d609c" providerId="ADAL" clId="{0540595A-576C-4961-8064-C6DA6FE25FD3}" dt="2024-03-28T16:41:31.466" v="9" actId="478"/>
          <ac:picMkLst>
            <pc:docMk/>
            <pc:sldMk cId="0" sldId="257"/>
            <ac:picMk id="3074" creationId="{AD9CEC6A-1B25-2261-ACEF-39CAFD05A131}"/>
          </ac:picMkLst>
        </pc:picChg>
      </pc:sldChg>
      <pc:sldChg chg="new del">
        <pc:chgData name="Julia Montezelli" userId="f684dfb1-a22e-47cb-8c34-70aa728d609c" providerId="ADAL" clId="{0540595A-576C-4961-8064-C6DA6FE25FD3}" dt="2024-03-28T16:41:05.260" v="5" actId="47"/>
        <pc:sldMkLst>
          <pc:docMk/>
          <pc:sldMk cId="1325056275" sldId="258"/>
        </pc:sldMkLst>
      </pc:sldChg>
      <pc:sldChg chg="delSp add del">
        <pc:chgData name="Julia Montezelli" userId="f684dfb1-a22e-47cb-8c34-70aa728d609c" providerId="ADAL" clId="{0540595A-576C-4961-8064-C6DA6FE25FD3}" dt="2024-03-28T16:42:40.512" v="16" actId="47"/>
        <pc:sldMkLst>
          <pc:docMk/>
          <pc:sldMk cId="2878548634" sldId="258"/>
        </pc:sldMkLst>
        <pc:picChg chg="del">
          <ac:chgData name="Julia Montezelli" userId="f684dfb1-a22e-47cb-8c34-70aa728d609c" providerId="ADAL" clId="{0540595A-576C-4961-8064-C6DA6FE25FD3}" dt="2024-03-28T16:41:33.929" v="10" actId="478"/>
          <ac:picMkLst>
            <pc:docMk/>
            <pc:sldMk cId="2878548634" sldId="258"/>
            <ac:picMk id="3074" creationId="{AD9CEC6A-1B25-2261-ACEF-39CAFD05A131}"/>
          </ac:picMkLst>
        </pc:picChg>
      </pc:sldChg>
      <pc:sldChg chg="new del">
        <pc:chgData name="Julia Montezelli" userId="f684dfb1-a22e-47cb-8c34-70aa728d609c" providerId="ADAL" clId="{0540595A-576C-4961-8064-C6DA6FE25FD3}" dt="2024-03-28T16:42:39.533" v="15" actId="47"/>
        <pc:sldMkLst>
          <pc:docMk/>
          <pc:sldMk cId="1401432568" sldId="259"/>
        </pc:sldMkLst>
      </pc:sldChg>
      <pc:sldChg chg="new del">
        <pc:chgData name="Julia Montezelli" userId="f684dfb1-a22e-47cb-8c34-70aa728d609c" providerId="ADAL" clId="{0540595A-576C-4961-8064-C6DA6FE25FD3}" dt="2024-03-28T16:42:38.895" v="14" actId="47"/>
        <pc:sldMkLst>
          <pc:docMk/>
          <pc:sldMk cId="1315780620" sldId="260"/>
        </pc:sldMkLst>
      </pc:sldChg>
      <pc:sldMasterChg chg="modSldLayout">
        <pc:chgData name="Julia Montezelli" userId="f684dfb1-a22e-47cb-8c34-70aa728d609c" providerId="ADAL" clId="{0540595A-576C-4961-8064-C6DA6FE25FD3}" dt="2024-03-28T16:41:18.999" v="7"/>
        <pc:sldMasterMkLst>
          <pc:docMk/>
          <pc:sldMasterMk cId="0" sldId="2147483648"/>
        </pc:sldMasterMkLst>
        <pc:sldLayoutChg chg="addSp modSp">
          <pc:chgData name="Julia Montezelli" userId="f684dfb1-a22e-47cb-8c34-70aa728d609c" providerId="ADAL" clId="{0540595A-576C-4961-8064-C6DA6FE25FD3}" dt="2024-03-28T16:41:18.999" v="7"/>
          <pc:sldLayoutMkLst>
            <pc:docMk/>
            <pc:sldMasterMk cId="0" sldId="2147483648"/>
            <pc:sldLayoutMk cId="423984615" sldId="2147483650"/>
          </pc:sldLayoutMkLst>
          <pc:picChg chg="add mod">
            <ac:chgData name="Julia Montezelli" userId="f684dfb1-a22e-47cb-8c34-70aa728d609c" providerId="ADAL" clId="{0540595A-576C-4961-8064-C6DA6FE25FD3}" dt="2024-03-28T16:41:18.999" v="7"/>
            <ac:picMkLst>
              <pc:docMk/>
              <pc:sldMasterMk cId="0" sldId="2147483648"/>
              <pc:sldLayoutMk cId="423984615" sldId="2147483650"/>
              <ac:picMk id="7" creationId="{664C5D5B-F775-740C-162F-75F700AA3B6F}"/>
            </ac:picMkLst>
          </pc:picChg>
        </pc:sldLayoutChg>
        <pc:sldLayoutChg chg="addSp delSp modSp">
          <pc:chgData name="Julia Montezelli" userId="f684dfb1-a22e-47cb-8c34-70aa728d609c" providerId="ADAL" clId="{0540595A-576C-4961-8064-C6DA6FE25FD3}" dt="2024-03-28T16:41:16.049" v="6" actId="21"/>
          <pc:sldLayoutMkLst>
            <pc:docMk/>
            <pc:sldMasterMk cId="0" sldId="2147483648"/>
            <pc:sldLayoutMk cId="468984278" sldId="2147483651"/>
          </pc:sldLayoutMkLst>
          <pc:picChg chg="add del mod">
            <ac:chgData name="Julia Montezelli" userId="f684dfb1-a22e-47cb-8c34-70aa728d609c" providerId="ADAL" clId="{0540595A-576C-4961-8064-C6DA6FE25FD3}" dt="2024-03-28T16:41:16.049" v="6" actId="21"/>
            <ac:picMkLst>
              <pc:docMk/>
              <pc:sldMasterMk cId="0" sldId="2147483648"/>
              <pc:sldLayoutMk cId="468984278" sldId="2147483651"/>
              <ac:picMk id="7" creationId="{664C5D5B-F775-740C-162F-75F700AA3B6F}"/>
            </ac:picMkLst>
          </pc:picChg>
        </pc:sldLayoutChg>
      </pc:sldMasterChg>
      <pc:sldMasterChg chg="new mod addSldLayout">
        <pc:chgData name="Julia Montezelli" userId="f684dfb1-a22e-47cb-8c34-70aa728d609c" providerId="ADAL" clId="{0540595A-576C-4961-8064-C6DA6FE25FD3}" dt="2024-03-28T14:32:12.261" v="0" actId="6938"/>
        <pc:sldMasterMkLst>
          <pc:docMk/>
          <pc:sldMasterMk cId="2258777206" sldId="2147483660"/>
        </pc:sldMasterMkLst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13237468" sldId="2147483661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61459600" sldId="2147483662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611285825" sldId="2147483663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658152024" sldId="2147483664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659889071" sldId="2147483665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663317416" sldId="2147483666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349444308" sldId="2147483667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12163654" sldId="2147483668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992403294" sldId="2147483669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530002744" sldId="2147483670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721163585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4188C-5123-C403-D056-93E26F43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1F348-3173-4368-9AE4-2C210B104C9A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48FF5D-D431-88CE-6059-A5CCBA4B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6DCA9-8EA9-A37A-51F1-8B71F4CB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F76F7-039B-430A-B7B5-577DDA3C4D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69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4A8A04-19E9-70E3-19CA-3B3FF022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53154-227E-4FB0-9144-264D99B09C4F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BC6B5-7E86-2B7B-9668-FB92CF95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AE915-4AA5-1329-97D0-038C90D4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A4533-5DBE-4FD4-A061-EAF54B40E8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7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64C5D5B-F775-740C-162F-75F700AA3B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838" y="6224588"/>
            <a:ext cx="11826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98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53632-0636-CD63-8241-3E8831E4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3CC2B-74D8-4575-BC9B-C755C2896EC6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3DF60-2307-708F-4B50-3EC9B5C1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AA974E-B8F0-D8E5-71C1-3AC1FBF6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4EEBC-97AD-4BB5-8C4C-916E37B736B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9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206DE05-FE47-C861-B320-19DCD0AD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63D85-07B5-4A63-A5EE-7CB9EBD586D1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266CD70-C085-D99C-4F89-89C7448D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0FDED60-12D4-0D84-DC2C-025B2AF2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F81F3-3B6B-4158-A2EA-435EE12202D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13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7BCF1C5A-A74A-F7CB-5428-776F6FA8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49EFE-17D5-480A-B754-87D854FBA7BD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2ECEE962-D46B-58FA-EF60-EDFE1973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32B39DE-A1FE-7775-DE1E-ACB086D8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39C0E-B88B-4E19-94FC-2325D76F751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63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5137CD16-6574-6E1F-ABE4-0A545D36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93E6F-C6AF-442E-89E3-F85E24AFDA58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35BCBFEA-C5E5-6A42-1AAA-FAF2685F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987B575-2E62-724D-F599-EAD1951F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65F5-9918-43E5-A4FC-F732428B84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81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57D1C6B0-5D54-197F-AC9B-65D8851F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D17F-5C37-430A-8177-1918C74E06A4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0D6031AF-FE42-9BB0-2711-99D8A67E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E6DDA5D-8BD5-1650-B632-A61D9B1D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EDAD0-5299-4C4E-859B-63E5266360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7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A53A17D-9EEC-1376-506B-D8D43425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97BD8-28FD-44E8-9D3A-DD444A1270E8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43F775C-E2F8-910D-745B-5D354CFD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3860552-DD75-02DB-B500-B86A9D63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DB9B6-62D8-4BB7-BB1C-7D883C2647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9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581D842-D706-7D01-7B93-471F1CCC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3CEA6-D88E-4E80-9FC8-3DA155323873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16DC51D-DF0D-58F1-CFE1-BE301691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407A454-8E16-BB9C-37DE-A2D421A1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8A33F-6685-41BA-80F1-2B0923865B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59DDA-6441-1B7C-B62C-BF62B03B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6C737-1E34-435B-8742-DFCAF78F49C8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B4E6C9-D9FC-E0DC-02F2-F642D50D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BB54B-F4A2-4AA3-61E6-2A9526B0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6F8B4-0831-4CF4-85C7-B8BB0D88BD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11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B2444-C6E0-2A95-B28D-C7A5E66A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7F4D5-5FF4-4AE9-9E53-FBC51E1889ED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08FAD-EDC2-8C7B-CA3B-A64C9007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F2CA30-119A-4372-93F3-D47A1D77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0E77F-8C06-477A-82CE-75C5F46B7A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81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EF62E-0F2D-47C5-6D89-F3CCC797A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4013DC-8F6A-2CEA-B95A-3A12F4C2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668CB8-DA21-60CA-576A-40CEC5DC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6A8E9C-7002-046F-C62C-7F7B5DF4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D49D0-7B3E-366D-C1B1-645D15AA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37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14900-2B20-CF61-3EF4-0A478244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01EAC-6554-6610-2375-BA980B38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B100A3-B288-7584-7AB3-3E2C89CB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7905D-FE02-43D8-7F1A-B52231D5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585B9-64F8-F534-75D1-DB0DF76E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59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738F6-0B84-F482-8581-48DA7812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F32F5C-3A9A-B986-48CB-28B6608B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0B67F0-1844-E07C-FBBF-6ED7E9FE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C171B8-D512-7700-A187-95FFAA3B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D3D2D-4DBF-3F52-754A-0DE045A2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285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6D6A7-8208-8CB5-1985-A690E3FD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60FB5-FBFF-38BB-9508-C46FDB26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AD750-9710-6744-3DFA-8094CA9B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8C0DD2-EA0A-EC6D-D5F7-AADE939C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482AC6-F053-EEDD-5637-B347FE01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F95F68-3D6D-9BA7-9C25-7DA1717F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152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04330-174D-29E5-8654-46A07AF8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E00D73-2C2D-23AB-0134-CF309677B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249F24-FCDC-6B9A-A6D7-D0522370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6A79D9-C4D3-5F6D-6C3A-8A7DFBE06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70E644-EED5-872A-3F3E-8DA878743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434F67-88BF-E7AB-8146-F015A2E4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316F72-0B0C-741B-4791-1A08DCC0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D686B2-8C95-B1A7-8647-8AE6D627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889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CA114-7BEF-8889-4AAD-A4650F5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4703BE-0278-68C8-55F1-5E12C6A8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362A38-B33A-3B43-1FC6-6E913103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83375D-BA6C-7189-935B-2C4CDA4C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17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B3D465-661A-008F-6997-8D0BE07B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01AFC2-EE9C-0E49-2FB7-F1B471B6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12F564-8150-6C5C-3AD4-CA179A8E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444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2C474-3B0B-B417-EC81-75DE75A5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C390E-B237-7170-85F8-A35CF9644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F85BDB-CC8C-5D62-5852-0D91B7C5C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FF1C5-64A0-DAB8-6184-8BE64977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ABDF35-C8D7-F2C0-CBF3-D0DCEC1D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293867-BF6F-F150-C690-A101E356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63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4E243-EE90-F093-06FD-D01879DC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DA1786-0D87-7592-C312-AAA4055FF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3ED9EA-D49E-8E58-3C63-9B8108BE5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067272-070E-82A2-443A-948B5B5A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1E17D2-90C1-300D-83AA-A1DA1DF9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B14FE-048C-DF7C-85F1-4F55DAF3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403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6FBF-271B-6A71-80D3-84715724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386F14-8F4A-F22F-9FFC-1164C0CD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95AC9A-FDC8-0DEE-1058-0933DBB4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118C6-633D-F2FC-6522-4511BBD8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A59AB-5B8D-B9F1-CA52-861E99D9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0027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916963-F002-4CC0-000F-721A3B3C7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565939-2249-B159-ED7A-6B667FC19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0FB969-A189-C5D2-6D3C-3B2D596A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6F883-BB93-AA0F-E2B5-D8DB0A17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187D8-30AE-608E-E44C-43BD8F60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54FEAEE6-6DC3-82AD-923E-6E89737AC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2EB787A8-6C53-B312-69D6-15B7C63F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B38F5-179C-EC89-D177-EDF645BBB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DEA24CB-D011-40A9-9B00-17F8B95BC099}" type="datetimeFigureOut">
              <a:rPr lang="pt-BR"/>
              <a:pPr>
                <a:defRPr/>
              </a:pPr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6B3C93-8BD6-F4DF-2EF9-9F9B19864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79F760-62C7-A95B-8BCB-9125DE646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1B5D4AF-77A0-46F4-A4DA-44F26C2F6F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0CD8993-8EFA-C921-CE50-C91B93C5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DAFABD-CCB9-B391-F672-3C505C4ED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6F6392-A335-49EB-9AF3-43BB6706E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4664-DFBB-4E94-A029-90BF542E375A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3C747-C098-229A-2F92-02372364E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1009F-9821-73C3-C06E-B6C465341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77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9167FFF-053C-32A8-23DF-F9F613927C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187450"/>
            <a:ext cx="26924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ítulo 1">
            <a:extLst>
              <a:ext uri="{FF2B5EF4-FFF2-40B4-BE49-F238E27FC236}">
                <a16:creationId xmlns:a16="http://schemas.microsoft.com/office/drawing/2014/main" id="{5E191FB6-9076-7761-D0ED-D4DB65D145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14800" y="2793192"/>
            <a:ext cx="7654925" cy="2003425"/>
          </a:xfrm>
        </p:spPr>
        <p:txBody>
          <a:bodyPr/>
          <a:lstStyle/>
          <a:p>
            <a:r>
              <a:rPr lang="pt-BR" altLang="pt-BR" sz="4800" dirty="0">
                <a:solidFill>
                  <a:schemeClr val="bg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Desempenho de inteligências artificiais na criação de APIs para plataformas de simulação de investimentos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2D5B23A-1E89-B367-5D15-A0EBF7647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0750" y="4987506"/>
            <a:ext cx="5356225" cy="673965"/>
          </a:xfrm>
        </p:spPr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Igor </a:t>
            </a:r>
            <a:r>
              <a:rPr lang="pt-BR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Ayello</a:t>
            </a: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Borges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Anderson Canale Garcia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5D42048-AA20-3DC1-CE1D-09AE13510F48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/>
              <a:t>Introdução</a:t>
            </a:r>
            <a:endParaRPr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748C3-1709-D919-AAE0-B732FAD7B9E5}"/>
              </a:ext>
            </a:extLst>
          </p:cNvPr>
          <p:cNvSpPr>
            <a:spLocks noGrp="1"/>
          </p:cNvSpPr>
          <p:nvPr/>
        </p:nvSpPr>
        <p:spPr>
          <a:xfrm>
            <a:off x="923925" y="1828799"/>
            <a:ext cx="1042987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• O </a:t>
            </a:r>
            <a:r>
              <a:rPr dirty="0" err="1"/>
              <a:t>avanço</a:t>
            </a:r>
            <a:r>
              <a:rPr dirty="0"/>
              <a:t> das </a:t>
            </a:r>
            <a:r>
              <a:rPr dirty="0" err="1"/>
              <a:t>tecnologias</a:t>
            </a:r>
            <a:r>
              <a:rPr dirty="0"/>
              <a:t> de IA </a:t>
            </a:r>
            <a:r>
              <a:rPr dirty="0" err="1"/>
              <a:t>transformou</a:t>
            </a:r>
            <a:r>
              <a:rPr dirty="0"/>
              <a:t> o </a:t>
            </a:r>
            <a:r>
              <a:rPr dirty="0" err="1"/>
              <a:t>desenvolvimento</a:t>
            </a:r>
            <a:r>
              <a:rPr dirty="0"/>
              <a:t> de software.</a:t>
            </a:r>
          </a:p>
          <a:p>
            <a:pPr marL="0" indent="0">
              <a:buNone/>
            </a:pPr>
            <a:r>
              <a:rPr dirty="0"/>
              <a:t>• Ferramentas </a:t>
            </a:r>
            <a:r>
              <a:rPr dirty="0" err="1"/>
              <a:t>como</a:t>
            </a:r>
            <a:r>
              <a:rPr dirty="0"/>
              <a:t> ChatGPT e Copilot </a:t>
            </a:r>
            <a:r>
              <a:rPr dirty="0" err="1"/>
              <a:t>auxiliam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há</a:t>
            </a:r>
            <a:r>
              <a:rPr dirty="0"/>
              <a:t> </a:t>
            </a:r>
            <a:r>
              <a:rPr dirty="0" err="1"/>
              <a:t>desafios</a:t>
            </a:r>
            <a:r>
              <a:rPr dirty="0"/>
              <a:t> </a:t>
            </a:r>
            <a:r>
              <a:rPr dirty="0" err="1"/>
              <a:t>quanto</a:t>
            </a:r>
            <a:r>
              <a:rPr dirty="0"/>
              <a:t> à </a:t>
            </a:r>
            <a:r>
              <a:rPr dirty="0" err="1"/>
              <a:t>precisão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 e </a:t>
            </a:r>
            <a:r>
              <a:rPr dirty="0" err="1"/>
              <a:t>manutenibilidade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Este </a:t>
            </a:r>
            <a:r>
              <a:rPr dirty="0" err="1"/>
              <a:t>estudo</a:t>
            </a:r>
            <a:r>
              <a:rPr dirty="0"/>
              <a:t> </a:t>
            </a:r>
            <a:r>
              <a:rPr dirty="0" err="1"/>
              <a:t>compara</a:t>
            </a:r>
            <a:r>
              <a:rPr dirty="0"/>
              <a:t> o </a:t>
            </a:r>
            <a:r>
              <a:rPr dirty="0" err="1"/>
              <a:t>desempenho</a:t>
            </a:r>
            <a:r>
              <a:rPr dirty="0"/>
              <a:t> de </a:t>
            </a:r>
            <a:r>
              <a:rPr dirty="0" err="1"/>
              <a:t>cinco</a:t>
            </a:r>
            <a:r>
              <a:rPr dirty="0"/>
              <a:t> IAs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criação</a:t>
            </a:r>
            <a:r>
              <a:rPr dirty="0"/>
              <a:t> de APIs para um </a:t>
            </a:r>
            <a:r>
              <a:rPr dirty="0" err="1"/>
              <a:t>simulador</a:t>
            </a:r>
            <a:r>
              <a:rPr dirty="0"/>
              <a:t> de </a:t>
            </a:r>
            <a:r>
              <a:rPr dirty="0" err="1"/>
              <a:t>investimentos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16337-DB96-0909-8144-B99158B0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DAA6-24E2-B0A5-775E-A6DD60BEEDDE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/>
              <a:t>Contextualização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0A4D0-3FD6-861A-6A85-D1DAFF122DCF}"/>
              </a:ext>
            </a:extLst>
          </p:cNvPr>
          <p:cNvSpPr>
            <a:spLocks noGrp="1"/>
          </p:cNvSpPr>
          <p:nvPr/>
        </p:nvSpPr>
        <p:spPr>
          <a:xfrm>
            <a:off x="895349" y="1828799"/>
            <a:ext cx="105251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Modelos</a:t>
            </a:r>
            <a:r>
              <a:rPr dirty="0"/>
              <a:t> de IA </a:t>
            </a:r>
            <a:r>
              <a:rPr dirty="0" err="1"/>
              <a:t>avaliados</a:t>
            </a:r>
            <a:r>
              <a:rPr dirty="0"/>
              <a:t>: ChatGPT, Copilot, DeepSeek, Gemini e Meta AI.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Aplicações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APIs </a:t>
            </a:r>
            <a:r>
              <a:rPr dirty="0" err="1"/>
              <a:t>financeiras</a:t>
            </a:r>
            <a:r>
              <a:rPr dirty="0"/>
              <a:t> para </a:t>
            </a:r>
            <a:r>
              <a:rPr dirty="0" err="1"/>
              <a:t>integração</a:t>
            </a:r>
            <a:r>
              <a:rPr dirty="0"/>
              <a:t> com dados de mercado.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Necessidade</a:t>
            </a:r>
            <a:r>
              <a:rPr dirty="0"/>
              <a:t> de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e </a:t>
            </a:r>
            <a:r>
              <a:rPr dirty="0" err="1"/>
              <a:t>desempenho</a:t>
            </a:r>
            <a:r>
              <a:rPr dirty="0"/>
              <a:t> entre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018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8BFD-640D-6482-A026-AAF7726C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55D9-24B3-CC20-F116-6F671A9BA089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/>
              <a:t>Problema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0482E-9E7E-D88E-B3AD-73E9772E6798}"/>
              </a:ext>
            </a:extLst>
          </p:cNvPr>
          <p:cNvSpPr>
            <a:spLocks noGrp="1"/>
          </p:cNvSpPr>
          <p:nvPr/>
        </p:nvSpPr>
        <p:spPr>
          <a:xfrm>
            <a:off x="733425" y="1828799"/>
            <a:ext cx="10591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Existem poucos</a:t>
            </a:r>
            <a:r>
              <a:rPr dirty="0"/>
              <a:t> </a:t>
            </a:r>
            <a:r>
              <a:rPr dirty="0" err="1"/>
              <a:t>estudos</a:t>
            </a:r>
            <a:r>
              <a:rPr dirty="0"/>
              <a:t> </a:t>
            </a:r>
            <a:r>
              <a:rPr dirty="0" err="1"/>
              <a:t>comparativos</a:t>
            </a:r>
            <a:r>
              <a:rPr dirty="0"/>
              <a:t> </a:t>
            </a:r>
            <a:r>
              <a:rPr dirty="0" err="1"/>
              <a:t>detalhados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avaliem</a:t>
            </a:r>
            <a:r>
              <a:rPr dirty="0"/>
              <a:t> o </a:t>
            </a:r>
            <a:r>
              <a:rPr dirty="0" err="1"/>
              <a:t>desempenho</a:t>
            </a:r>
            <a:r>
              <a:rPr dirty="0"/>
              <a:t> de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inteligências</a:t>
            </a:r>
            <a:r>
              <a:rPr dirty="0"/>
              <a:t> </a:t>
            </a:r>
            <a:r>
              <a:rPr dirty="0" err="1"/>
              <a:t>artificiais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geração</a:t>
            </a:r>
            <a:r>
              <a:rPr dirty="0"/>
              <a:t> de APIs, </a:t>
            </a:r>
            <a:r>
              <a:rPr dirty="0" err="1"/>
              <a:t>considerando</a:t>
            </a:r>
            <a:r>
              <a:rPr dirty="0"/>
              <a:t> </a:t>
            </a:r>
            <a:r>
              <a:rPr dirty="0" err="1"/>
              <a:t>aspectos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segurança</a:t>
            </a:r>
            <a:r>
              <a:rPr dirty="0"/>
              <a:t>, </a:t>
            </a:r>
            <a:r>
              <a:rPr dirty="0" err="1"/>
              <a:t>eficiência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 e </a:t>
            </a:r>
            <a:r>
              <a:rPr dirty="0" err="1"/>
              <a:t>manutenibilidade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74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3D43-9640-B97B-110D-CB9FE9F3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4C04-096D-C96F-CBDF-C15CB19A0310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/>
              <a:t>Objetivo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BBBE-B9ED-28BC-3F7A-4487488F8216}"/>
              </a:ext>
            </a:extLst>
          </p:cNvPr>
          <p:cNvSpPr>
            <a:spLocks noGrp="1"/>
          </p:cNvSpPr>
          <p:nvPr/>
        </p:nvSpPr>
        <p:spPr>
          <a:xfrm>
            <a:off x="771525" y="1828799"/>
            <a:ext cx="1046797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err="1"/>
              <a:t>Comparar</a:t>
            </a:r>
            <a:r>
              <a:rPr dirty="0"/>
              <a:t> o </a:t>
            </a:r>
            <a:r>
              <a:rPr dirty="0" err="1"/>
              <a:t>desempenho</a:t>
            </a:r>
            <a:r>
              <a:rPr dirty="0"/>
              <a:t> de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IA (Copilot, ChatGPT, DeepSeek, Gemini e Meta AI)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geração</a:t>
            </a:r>
            <a:r>
              <a:rPr dirty="0"/>
              <a:t> de APIs para um </a:t>
            </a:r>
            <a:r>
              <a:rPr dirty="0" err="1"/>
              <a:t>simulador</a:t>
            </a:r>
            <a:r>
              <a:rPr dirty="0"/>
              <a:t> de </a:t>
            </a:r>
            <a:r>
              <a:rPr dirty="0" err="1"/>
              <a:t>investimentos</a:t>
            </a:r>
            <a:r>
              <a:rPr dirty="0"/>
              <a:t> </a:t>
            </a:r>
            <a:r>
              <a:rPr dirty="0" err="1"/>
              <a:t>avaliando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 e </a:t>
            </a:r>
            <a:r>
              <a:rPr dirty="0" err="1"/>
              <a:t>eficiência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 com base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análises</a:t>
            </a:r>
            <a:r>
              <a:rPr dirty="0"/>
              <a:t> do SonarQube.</a:t>
            </a:r>
          </a:p>
        </p:txBody>
      </p:sp>
    </p:spTree>
    <p:extLst>
      <p:ext uri="{BB962C8B-B14F-4D97-AF65-F5344CB8AC3E}">
        <p14:creationId xmlns:p14="http://schemas.microsoft.com/office/powerpoint/2010/main" val="349428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0E3F-E888-E8B7-25C5-F20A0623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19D79EC-FC16-AC80-02A3-D6C99219A296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/>
              <a:t>Material e </a:t>
            </a:r>
            <a:r>
              <a:rPr b="1" dirty="0" err="1"/>
              <a:t>Métodos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FAA10B-3F0E-E089-814E-183382F71F39}"/>
              </a:ext>
            </a:extLst>
          </p:cNvPr>
          <p:cNvSpPr>
            <a:spLocks noGrp="1"/>
          </p:cNvSpPr>
          <p:nvPr/>
        </p:nvSpPr>
        <p:spPr>
          <a:xfrm>
            <a:off x="704851" y="1828799"/>
            <a:ext cx="1077277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• Local da </a:t>
            </a:r>
            <a:r>
              <a:rPr dirty="0" err="1"/>
              <a:t>pesquisa</a:t>
            </a:r>
            <a:r>
              <a:rPr dirty="0"/>
              <a:t>: </a:t>
            </a:r>
            <a:r>
              <a:rPr dirty="0" err="1"/>
              <a:t>ambiente</a:t>
            </a:r>
            <a:r>
              <a:rPr dirty="0"/>
              <a:t> </a:t>
            </a:r>
            <a:r>
              <a:rPr dirty="0" err="1"/>
              <a:t>controlado</a:t>
            </a:r>
            <a:r>
              <a:rPr dirty="0"/>
              <a:t> com </a:t>
            </a:r>
            <a:r>
              <a:rPr dirty="0" err="1"/>
              <a:t>tecnologias</a:t>
            </a:r>
            <a:r>
              <a:rPr dirty="0"/>
              <a:t> Python, </a:t>
            </a:r>
            <a:r>
              <a:rPr dirty="0" err="1"/>
              <a:t>FastAPI</a:t>
            </a:r>
            <a:r>
              <a:rPr dirty="0"/>
              <a:t>, Docker e SQL Server.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População</a:t>
            </a:r>
            <a:r>
              <a:rPr dirty="0"/>
              <a:t> e </a:t>
            </a:r>
            <a:r>
              <a:rPr dirty="0" err="1"/>
              <a:t>amostra</a:t>
            </a:r>
            <a:r>
              <a:rPr dirty="0"/>
              <a:t>: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IA </a:t>
            </a:r>
            <a:r>
              <a:rPr dirty="0" err="1"/>
              <a:t>utilizados</a:t>
            </a:r>
            <a:r>
              <a:rPr dirty="0"/>
              <a:t> para </a:t>
            </a:r>
            <a:r>
              <a:rPr dirty="0" err="1"/>
              <a:t>gerar</a:t>
            </a:r>
            <a:r>
              <a:rPr dirty="0"/>
              <a:t> APIs </a:t>
            </a:r>
            <a:r>
              <a:rPr dirty="0" err="1"/>
              <a:t>idênticas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Instrumentos</a:t>
            </a:r>
            <a:r>
              <a:rPr dirty="0"/>
              <a:t>: SonarQube para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e </a:t>
            </a:r>
            <a:r>
              <a:rPr dirty="0" err="1"/>
              <a:t>segurança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Procedimentos</a:t>
            </a:r>
            <a:r>
              <a:rPr dirty="0"/>
              <a:t>: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receberam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mesmos</a:t>
            </a:r>
            <a:r>
              <a:rPr dirty="0"/>
              <a:t> prompts e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avaliados</a:t>
            </a:r>
            <a:r>
              <a:rPr dirty="0"/>
              <a:t> de forma </a:t>
            </a:r>
            <a:r>
              <a:rPr dirty="0" err="1"/>
              <a:t>padronizada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586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BA4E8-30D6-B450-771B-BF786980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E61435-C620-01AC-A962-7E5DAC3B99BD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/>
              <a:t>Material e </a:t>
            </a:r>
            <a:r>
              <a:rPr b="1" dirty="0" err="1"/>
              <a:t>Métodos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E91D4-E59B-CACE-2C0F-76A20F5E5223}"/>
              </a:ext>
            </a:extLst>
          </p:cNvPr>
          <p:cNvSpPr>
            <a:spLocks noGrp="1"/>
          </p:cNvSpPr>
          <p:nvPr/>
        </p:nvSpPr>
        <p:spPr>
          <a:xfrm>
            <a:off x="704851" y="1828799"/>
            <a:ext cx="10772774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Cada modelo de IA (ChatGPT, </a:t>
            </a:r>
            <a:r>
              <a:rPr lang="pt-BR" dirty="0" err="1"/>
              <a:t>Copilot</a:t>
            </a:r>
            <a:r>
              <a:rPr lang="pt-BR" dirty="0"/>
              <a:t>, </a:t>
            </a:r>
            <a:r>
              <a:rPr lang="pt-BR" dirty="0" err="1"/>
              <a:t>DeepSeek</a:t>
            </a:r>
            <a:r>
              <a:rPr lang="pt-BR" dirty="0"/>
              <a:t>, Gemini e Meta AI) recebeu os mesmos prompts para gerar o </a:t>
            </a:r>
            <a:r>
              <a:rPr lang="pt-BR" dirty="0" err="1"/>
              <a:t>backend</a:t>
            </a:r>
            <a:r>
              <a:rPr lang="pt-BR" dirty="0"/>
              <a:t> de uma API voltada à simulação de investimentos, utilizando:</a:t>
            </a:r>
          </a:p>
          <a:p>
            <a:pPr marL="0" indent="0">
              <a:buNone/>
            </a:pPr>
            <a:r>
              <a:rPr lang="pt-BR" dirty="0"/>
              <a:t>Principais funcionalidades pedidas:</a:t>
            </a:r>
          </a:p>
          <a:p>
            <a:pPr marL="0" indent="0">
              <a:buNone/>
            </a:pPr>
            <a:r>
              <a:rPr lang="pt-BR" dirty="0"/>
              <a:t>• Importar dados de planilhas Excel e preencher tabelas no banco</a:t>
            </a:r>
          </a:p>
          <a:p>
            <a:pPr marL="0" indent="0">
              <a:buNone/>
            </a:pPr>
            <a:r>
              <a:rPr lang="pt-BR" dirty="0"/>
              <a:t>• Consumir dados de APIs externas (Banco Central e Yahoo </a:t>
            </a:r>
            <a:r>
              <a:rPr lang="pt-BR" dirty="0" err="1"/>
              <a:t>Finance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• Calcular indicadores financeiros (Beta, Sharpe, Volatilidade, Percentil)</a:t>
            </a:r>
          </a:p>
          <a:p>
            <a:pPr marL="0" indent="0">
              <a:buNone/>
            </a:pPr>
            <a:r>
              <a:rPr lang="pt-BR" dirty="0"/>
              <a:t>• Implementar Design </a:t>
            </a:r>
            <a:r>
              <a:rPr lang="pt-BR" dirty="0" err="1"/>
              <a:t>Pattern</a:t>
            </a:r>
            <a:r>
              <a:rPr lang="pt-BR" dirty="0"/>
              <a:t> (</a:t>
            </a:r>
            <a:r>
              <a:rPr lang="pt-BR" dirty="0" err="1"/>
              <a:t>Adapter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• Avaliar qualidade do código via </a:t>
            </a:r>
            <a:r>
              <a:rPr lang="pt-BR" dirty="0" err="1"/>
              <a:t>SonarQube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5026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9FD75-9F79-98B5-74CE-CCFE50A3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D7E848-A4A7-DDD5-BB7C-7C2CA171CD85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/>
              <a:t>Material e </a:t>
            </a:r>
            <a:r>
              <a:rPr b="1" dirty="0" err="1"/>
              <a:t>Métodos</a:t>
            </a:r>
            <a:endParaRPr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A4B463-33E0-D8E9-8641-3911A7D7D37C}"/>
              </a:ext>
            </a:extLst>
          </p:cNvPr>
          <p:cNvSpPr>
            <a:spLocks noGrp="1"/>
          </p:cNvSpPr>
          <p:nvPr/>
        </p:nvSpPr>
        <p:spPr>
          <a:xfrm>
            <a:off x="704851" y="1828799"/>
            <a:ext cx="10772774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Exemplo de prompt:</a:t>
            </a:r>
          </a:p>
          <a:p>
            <a:pPr marL="0" indent="0">
              <a:buNone/>
            </a:pPr>
            <a:r>
              <a:rPr lang="pt-BR" dirty="0"/>
              <a:t>“Como consumir dados do seguinte endereço https://api.bcb.gov.br/dados/serie/bcdata.sgs.12/dados?formato=json&amp;dataInicial=08/04/2015&amp;dataFinal=08/04/2025 por meio de um </a:t>
            </a:r>
            <a:r>
              <a:rPr lang="pt-BR" dirty="0" err="1"/>
              <a:t>adapter</a:t>
            </a:r>
            <a:r>
              <a:rPr lang="pt-BR" dirty="0"/>
              <a:t> (design </a:t>
            </a:r>
            <a:r>
              <a:rPr lang="pt-BR" dirty="0" err="1"/>
              <a:t>pattern</a:t>
            </a:r>
            <a:r>
              <a:rPr lang="pt-BR" dirty="0"/>
              <a:t>) em Clean </a:t>
            </a:r>
            <a:r>
              <a:rPr lang="pt-BR" dirty="0" err="1"/>
              <a:t>Architecture</a:t>
            </a:r>
            <a:r>
              <a:rPr lang="pt-BR" dirty="0"/>
              <a:t> usando </a:t>
            </a:r>
            <a:r>
              <a:rPr lang="pt-BR" dirty="0" err="1"/>
              <a:t>FastAPI</a:t>
            </a:r>
            <a:r>
              <a:rPr lang="pt-BR" dirty="0"/>
              <a:t>, salvando os dados consumidos na tabela: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CREATE TABLE </a:t>
            </a:r>
            <a:r>
              <a:rPr lang="pt-BR" dirty="0" err="1"/>
              <a:t>CDI_Diario</a:t>
            </a:r>
            <a:r>
              <a:rPr lang="pt-BR" dirty="0"/>
              <a:t> (</a:t>
            </a:r>
          </a:p>
          <a:p>
            <a:pPr marL="0" indent="0">
              <a:buNone/>
            </a:pPr>
            <a:r>
              <a:rPr lang="pt-BR" dirty="0"/>
              <a:t>    Data DATE NOT NULL,</a:t>
            </a:r>
          </a:p>
          <a:p>
            <a:pPr marL="0" indent="0">
              <a:buNone/>
            </a:pPr>
            <a:r>
              <a:rPr lang="pt-BR" dirty="0"/>
              <a:t>    Valor FLOAT NOT NULL,</a:t>
            </a:r>
          </a:p>
          <a:p>
            <a:pPr marL="0" indent="0">
              <a:buNone/>
            </a:pPr>
            <a:r>
              <a:rPr lang="pt-BR" dirty="0"/>
              <a:t>    PRIMARY KEY (Data)</a:t>
            </a:r>
          </a:p>
          <a:p>
            <a:pPr marL="0" indent="0">
              <a:buNone/>
            </a:pPr>
            <a:r>
              <a:rPr lang="pt-BR" dirty="0"/>
              <a:t>);”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36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AECB-6930-5D9A-D2F9-F562AB11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F45AE0-9438-0A21-89C1-9401EE1E4091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/>
              <a:t>Material e </a:t>
            </a:r>
            <a:r>
              <a:rPr b="1" dirty="0" err="1"/>
              <a:t>Métodos</a:t>
            </a:r>
            <a:endParaRPr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F92404-D24E-866C-CEFF-31338B7C745C}"/>
              </a:ext>
            </a:extLst>
          </p:cNvPr>
          <p:cNvSpPr>
            <a:spLocks noGrp="1"/>
          </p:cNvSpPr>
          <p:nvPr/>
        </p:nvSpPr>
        <p:spPr>
          <a:xfrm>
            <a:off x="704851" y="1828799"/>
            <a:ext cx="1077277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Resultado esperado:</a:t>
            </a:r>
          </a:p>
          <a:p>
            <a:pPr marL="0" indent="0">
              <a:buNone/>
            </a:pPr>
            <a:r>
              <a:rPr lang="pt-BR" dirty="0"/>
              <a:t>1. Consumir a API externa do Banco Central</a:t>
            </a:r>
          </a:p>
          <a:p>
            <a:pPr marL="0" indent="0">
              <a:buNone/>
            </a:pPr>
            <a:r>
              <a:rPr lang="pt-BR" dirty="0"/>
              <a:t>2. Converter o retorno JSON usando o padrão </a:t>
            </a:r>
            <a:r>
              <a:rPr lang="pt-BR" dirty="0" err="1"/>
              <a:t>Adapter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3. Salvar os dados no SQL Server</a:t>
            </a:r>
          </a:p>
          <a:p>
            <a:pPr marL="0" indent="0">
              <a:buNone/>
            </a:pPr>
            <a:r>
              <a:rPr lang="pt-BR" dirty="0"/>
              <a:t>4. Expor um </a:t>
            </a:r>
            <a:r>
              <a:rPr lang="pt-BR" dirty="0" err="1"/>
              <a:t>endpoint</a:t>
            </a:r>
            <a:r>
              <a:rPr lang="pt-BR" dirty="0"/>
              <a:t> </a:t>
            </a:r>
            <a:r>
              <a:rPr lang="pt-BR" dirty="0" err="1"/>
              <a:t>FastAPI</a:t>
            </a:r>
            <a:r>
              <a:rPr lang="pt-BR" dirty="0"/>
              <a:t> para consulta filtrando por data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756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3702-BB21-12E5-0847-45287664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AE16-D19D-4ED6-FB6C-D053736E9674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Resultados – Segurança e Qualidade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FAB4B-7B26-D723-0B33-BB65BFFAAEBD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C4F29D3-E81E-1C48-B289-802DE2801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07591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7579339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177649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31464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7517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Vulnerabilidades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Bugs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 err="1"/>
                        <a:t>Code</a:t>
                      </a:r>
                      <a:r>
                        <a:rPr lang="pt-BR" b="1" dirty="0"/>
                        <a:t> </a:t>
                      </a:r>
                      <a:r>
                        <a:rPr lang="pt-BR" b="1" dirty="0" err="1"/>
                        <a:t>Smells</a:t>
                      </a:r>
                      <a:endParaRPr lang="pt-BR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904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33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775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54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238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MetaAI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369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00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4016-214D-F6E8-AAFF-5641B3E3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BBFD-2494-D7DF-DB0B-79F4D4505DE4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Resultados – Severidades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B504-407F-A4C8-3B0E-248CB92EEE62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15E1D88-2036-6EDE-2F61-71EC6F92A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352348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7161940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812500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964904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4231768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59589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10204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Bloqueios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Críticas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Principais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Secundárias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958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464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392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842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90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MetaAI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868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748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7636-55AB-D76D-CD2B-1794B59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CA-501D-60D2-759A-AB0FDC3814B5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Resultados – Tempo de Correção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A9758-7FAC-B834-A3FB-BC4F78430819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7D232C9-81B2-7517-440A-67F483960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55408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2036647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553538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92730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540409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69808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Segurança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Confiabilidade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Manutenção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630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02h27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01h47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220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01h14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662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04h30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04h00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531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03h45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01h00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02h45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52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MetaAI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02h07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01h00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00h00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01h07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846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30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F07D-62AD-F8DF-F0E1-5DE5E5B5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0BDF4-424C-BC70-6447-664117862C4A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Resultados – Dívida Técnica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A1780-C918-AF9D-6376-6BF8891F61D1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EA4A582-8A4F-2CF7-75A3-909452EF7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05341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7139909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537083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0120252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20922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207626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34358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Índice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Linhas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Funções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Arquivos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138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0,4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7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0,2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823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0,6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1272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12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0,5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60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MetaAI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0,3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794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211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E658-1F7B-26C5-D526-E665E35C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D51E-FD2A-203D-CF9F-5B3B1C3908E7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Resultados – Complexidade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DF4DD-9550-D8C7-5E6E-5FCD08114B2E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188E354-5A7A-BCE5-6077-F27448854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716449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456842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70253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48549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Ciclomática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Cognitiva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60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0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59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072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043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MetaAI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4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801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6C988-02E4-6539-F633-36BBA6D6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081F-DA73-360F-25B0-6063BEE9C814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/>
              <a:t>Resultados</a:t>
            </a:r>
            <a:r>
              <a:rPr b="1" dirty="0"/>
              <a:t> e </a:t>
            </a:r>
            <a:r>
              <a:rPr b="1" dirty="0" err="1"/>
              <a:t>Discussão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A20F-3C1D-8D22-5335-CD3023B70179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• Copilot </a:t>
            </a:r>
            <a:r>
              <a:rPr dirty="0" err="1"/>
              <a:t>apresentou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tempo de </a:t>
            </a:r>
            <a:r>
              <a:rPr dirty="0" err="1"/>
              <a:t>correção</a:t>
            </a:r>
            <a:r>
              <a:rPr dirty="0"/>
              <a:t> e boa </a:t>
            </a:r>
            <a:r>
              <a:rPr dirty="0" err="1"/>
              <a:t>estabilidade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Meta AI </a:t>
            </a:r>
            <a:r>
              <a:rPr dirty="0" err="1"/>
              <a:t>obteve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 e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complexidade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DeepSeek e Gemini </a:t>
            </a:r>
            <a:r>
              <a:rPr dirty="0" err="1"/>
              <a:t>apresentaram</a:t>
            </a:r>
            <a:r>
              <a:rPr dirty="0"/>
              <a:t>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complexidade</a:t>
            </a:r>
            <a:r>
              <a:rPr dirty="0"/>
              <a:t> e </a:t>
            </a:r>
            <a:r>
              <a:rPr dirty="0" err="1"/>
              <a:t>severidades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obtidos</a:t>
            </a:r>
            <a:r>
              <a:rPr dirty="0"/>
              <a:t> via </a:t>
            </a:r>
            <a:r>
              <a:rPr dirty="0" err="1"/>
              <a:t>análise</a:t>
            </a:r>
            <a:r>
              <a:rPr dirty="0"/>
              <a:t> no SonarQube.</a:t>
            </a:r>
          </a:p>
        </p:txBody>
      </p:sp>
    </p:spTree>
    <p:extLst>
      <p:ext uri="{BB962C8B-B14F-4D97-AF65-F5344CB8AC3E}">
        <p14:creationId xmlns:p14="http://schemas.microsoft.com/office/powerpoint/2010/main" val="1143822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D5FFA-A529-5B86-0BDA-68230FC9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719807-6968-C072-ACCE-26A00681E164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/>
              <a:t>Conclusões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B9D389-D60E-94C4-E5E3-798F1EE3FB02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Todas</a:t>
            </a:r>
            <a:r>
              <a:rPr dirty="0"/>
              <a:t> as IAs </a:t>
            </a:r>
            <a:r>
              <a:rPr dirty="0" err="1"/>
              <a:t>atingiram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objetivos</a:t>
            </a:r>
            <a:r>
              <a:rPr dirty="0"/>
              <a:t> de </a:t>
            </a:r>
            <a:r>
              <a:rPr dirty="0" err="1"/>
              <a:t>gerar</a:t>
            </a:r>
            <a:r>
              <a:rPr dirty="0"/>
              <a:t> APIs </a:t>
            </a:r>
            <a:r>
              <a:rPr dirty="0" err="1"/>
              <a:t>funcionais</a:t>
            </a:r>
            <a:r>
              <a:rPr dirty="0"/>
              <a:t>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• Escolha da IA depende do contexto do projeto.</a:t>
            </a:r>
          </a:p>
          <a:p>
            <a:pPr marL="0" indent="0">
              <a:buNone/>
            </a:pPr>
            <a:r>
              <a:rPr lang="pt-BR" dirty="0"/>
              <a:t>• Revisão humana continua essencial.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397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28A7-451A-9D76-71CB-D92AB9EC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8589-066B-C68D-A0E1-2179E794B016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err="1"/>
              <a:t>Agradecimentos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59DD-5670-52BA-A113-2550C4505235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</a:t>
            </a:r>
            <a:r>
              <a:rPr dirty="0" err="1"/>
              <a:t>rientador</a:t>
            </a:r>
            <a:r>
              <a:rPr dirty="0"/>
              <a:t> Anderson Canale Garcia</a:t>
            </a:r>
          </a:p>
        </p:txBody>
      </p:sp>
    </p:spTree>
    <p:extLst>
      <p:ext uri="{BB962C8B-B14F-4D97-AF65-F5344CB8AC3E}">
        <p14:creationId xmlns:p14="http://schemas.microsoft.com/office/powerpoint/2010/main" val="2917812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CFA7B293EDBE4DB98FBC161D82B39F" ma:contentTypeVersion="15" ma:contentTypeDescription="Crie um novo documento." ma:contentTypeScope="" ma:versionID="ed78836dbbd60ef5b47f46abba0ddc66">
  <xsd:schema xmlns:xsd="http://www.w3.org/2001/XMLSchema" xmlns:xs="http://www.w3.org/2001/XMLSchema" xmlns:p="http://schemas.microsoft.com/office/2006/metadata/properties" xmlns:ns2="2c89dc19-a755-4b1f-8ccb-ddc282e02978" xmlns:ns3="1e7d8aaf-77fb-4419-819f-502bcc31ffe3" targetNamespace="http://schemas.microsoft.com/office/2006/metadata/properties" ma:root="true" ma:fieldsID="f28b1225859e7fd7734d1009df438026" ns2:_="" ns3:_="">
    <xsd:import namespace="2c89dc19-a755-4b1f-8ccb-ddc282e02978"/>
    <xsd:import namespace="1e7d8aaf-77fb-4419-819f-502bcc31ffe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9dc19-a755-4b1f-8ccb-ddc282e029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b121cd5-3768-42a0-b312-b7830db9b9b1}" ma:internalName="TaxCatchAll" ma:showField="CatchAllData" ma:web="2c89dc19-a755-4b1f-8ccb-ddc282e029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d8aaf-77fb-4419-819f-502bcc31f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329bc3-ce7e-4e75-9c56-962f8f350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7d8aaf-77fb-4419-819f-502bcc31ffe3">
      <Terms xmlns="http://schemas.microsoft.com/office/infopath/2007/PartnerControls"/>
    </lcf76f155ced4ddcb4097134ff3c332f>
    <TaxCatchAll xmlns="2c89dc19-a755-4b1f-8ccb-ddc282e0297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E43D43-768B-4037-BB07-231DDA2772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89dc19-a755-4b1f-8ccb-ddc282e02978"/>
    <ds:schemaRef ds:uri="1e7d8aaf-77fb-4419-819f-502bcc31ff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A62DB6-902C-42C2-8D0F-84FB049FEE65}">
  <ds:schemaRefs>
    <ds:schemaRef ds:uri="http://schemas.microsoft.com/office/2006/metadata/properties"/>
    <ds:schemaRef ds:uri="http://schemas.microsoft.com/office/infopath/2007/PartnerControls"/>
    <ds:schemaRef ds:uri="1e7d8aaf-77fb-4419-819f-502bcc31ffe3"/>
    <ds:schemaRef ds:uri="2c89dc19-a755-4b1f-8ccb-ddc282e02978"/>
  </ds:schemaRefs>
</ds:datastoreItem>
</file>

<file path=customXml/itemProps3.xml><?xml version="1.0" encoding="utf-8"?>
<ds:datastoreItem xmlns:ds="http://schemas.openxmlformats.org/officeDocument/2006/customXml" ds:itemID="{555DBCE5-0FAE-4B8C-8A8A-6EE5B61A62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733</Words>
  <Application>Microsoft Office PowerPoint</Application>
  <PresentationFormat>Widescreen</PresentationFormat>
  <Paragraphs>204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Poppins SemiBold</vt:lpstr>
      <vt:lpstr>Roboto</vt:lpstr>
      <vt:lpstr>Tema do Office</vt:lpstr>
      <vt:lpstr>Personalizar design</vt:lpstr>
      <vt:lpstr>Desempenho de inteligências artificiais na criação de APIs para plataformas de simulação de investimentos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 de Conclusão de Curso</dc:title>
  <dc:creator>Nicole Dinardi</dc:creator>
  <cp:lastModifiedBy>igor8n1@gmail.com</cp:lastModifiedBy>
  <cp:revision>14</cp:revision>
  <dcterms:created xsi:type="dcterms:W3CDTF">2023-09-28T12:56:17Z</dcterms:created>
  <dcterms:modified xsi:type="dcterms:W3CDTF">2025-10-08T01:10:59Z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0x01010008CFA7B293EDBE4DB98FBC161D82B39F</vt:lpwstr>
  </property>
</Properties>
</file>